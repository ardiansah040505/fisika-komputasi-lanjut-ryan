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308" r:id="rId4"/>
    <p:sldId id="310" r:id="rId5"/>
    <p:sldId id="309" r:id="rId6"/>
    <p:sldId id="311" r:id="rId7"/>
    <p:sldId id="312" r:id="rId8"/>
    <p:sldId id="313" r:id="rId9"/>
    <p:sldId id="314" r:id="rId10"/>
    <p:sldId id="316" r:id="rId11"/>
    <p:sldId id="317" r:id="rId12"/>
    <p:sldId id="318" r:id="rId13"/>
    <p:sldId id="321" r:id="rId14"/>
    <p:sldId id="322" r:id="rId15"/>
    <p:sldId id="324" r:id="rId16"/>
    <p:sldId id="325" r:id="rId17"/>
    <p:sldId id="323" r:id="rId18"/>
    <p:sldId id="326" r:id="rId19"/>
    <p:sldId id="327" r:id="rId20"/>
    <p:sldId id="328" r:id="rId21"/>
    <p:sldId id="332" r:id="rId22"/>
    <p:sldId id="319" r:id="rId23"/>
    <p:sldId id="320" r:id="rId24"/>
    <p:sldId id="331" r:id="rId25"/>
    <p:sldId id="329" r:id="rId26"/>
    <p:sldId id="330" r:id="rId27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2" autoAdjust="0"/>
    <p:restoredTop sz="94660"/>
  </p:normalViewPr>
  <p:slideViewPr>
    <p:cSldViewPr snapToGrid="0">
      <p:cViewPr>
        <p:scale>
          <a:sx n="93" d="100"/>
          <a:sy n="93" d="100"/>
        </p:scale>
        <p:origin x="38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81234-2A88-AE76-19A4-0D575D1A8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latin typeface="Montserra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22A40-1FDA-E7BF-697B-F39B8D619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325306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4D55B-B53D-0150-9368-BF10BD693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>
                <a:latin typeface="Montserra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2B55B-D286-63E5-0A56-95862953D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Montserrat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7627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98EBE-FC99-5BDC-A95D-F8E08ADCA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5840" y="365125"/>
            <a:ext cx="7457440" cy="1325563"/>
          </a:xfrm>
        </p:spPr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03567-8C49-3F5A-BF54-ADA3205C88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8509000" cy="4351338"/>
          </a:xfrm>
        </p:spPr>
        <p:txBody>
          <a:bodyPr/>
          <a:lstStyle>
            <a:lvl1pPr>
              <a:defRPr>
                <a:latin typeface="Montserrat" pitchFamily="2" charset="0"/>
              </a:defRPr>
            </a:lvl1pPr>
            <a:lvl2pPr>
              <a:defRPr>
                <a:latin typeface="Montserrat" pitchFamily="2" charset="0"/>
              </a:defRPr>
            </a:lvl2pPr>
            <a:lvl3pPr>
              <a:defRPr>
                <a:latin typeface="Montserrat" pitchFamily="2" charset="0"/>
              </a:defRPr>
            </a:lvl3pPr>
            <a:lvl4pPr>
              <a:defRPr>
                <a:latin typeface="Montserrat" pitchFamily="2" charset="0"/>
              </a:defRPr>
            </a:lvl4pPr>
            <a:lvl5pPr>
              <a:defRPr>
                <a:latin typeface="Montserra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2001410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D51E-087B-6394-FFC7-AAAF250CF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1845"/>
            <a:ext cx="10515600" cy="1325563"/>
          </a:xfrm>
        </p:spPr>
        <p:txBody>
          <a:bodyPr/>
          <a:lstStyle>
            <a:lvl1pPr>
              <a:defRPr b="1">
                <a:latin typeface="Montserra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45525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AB19-D5D7-F74D-D991-A71308B60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8880"/>
            <a:ext cx="10515600" cy="959168"/>
          </a:xfrm>
        </p:spPr>
        <p:txBody>
          <a:bodyPr/>
          <a:lstStyle>
            <a:lvl1pPr>
              <a:defRPr b="1">
                <a:latin typeface="Montserra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ADA37-47C4-F2E7-87BD-6B1E36DAE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2985"/>
            <a:ext cx="10515600" cy="3985895"/>
          </a:xfrm>
        </p:spPr>
        <p:txBody>
          <a:bodyPr/>
          <a:lstStyle>
            <a:lvl1pPr>
              <a:defRPr>
                <a:latin typeface="Montserrat" pitchFamily="2" charset="0"/>
              </a:defRPr>
            </a:lvl1pPr>
            <a:lvl2pPr>
              <a:defRPr>
                <a:latin typeface="Montserrat" pitchFamily="2" charset="0"/>
              </a:defRPr>
            </a:lvl2pPr>
            <a:lvl3pPr>
              <a:defRPr>
                <a:latin typeface="Montserrat" pitchFamily="2" charset="0"/>
              </a:defRPr>
            </a:lvl3pPr>
            <a:lvl4pPr>
              <a:defRPr>
                <a:latin typeface="Montserrat" pitchFamily="2" charset="0"/>
              </a:defRPr>
            </a:lvl4pPr>
            <a:lvl5pPr>
              <a:defRPr>
                <a:latin typeface="Montserra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77442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0141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4AB01-23C3-2991-F1F9-C6558413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>
                <a:latin typeface="Montserra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93803-0C08-3951-5C04-F4175A3F7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 b="0">
                <a:latin typeface="Montserrat" pitchFamily="2" charset="0"/>
              </a:defRPr>
            </a:lvl1pPr>
            <a:lvl2pPr>
              <a:defRPr sz="2800" b="0">
                <a:latin typeface="Montserrat" pitchFamily="2" charset="0"/>
              </a:defRPr>
            </a:lvl2pPr>
            <a:lvl3pPr>
              <a:defRPr sz="2400" b="0">
                <a:latin typeface="Montserrat" pitchFamily="2" charset="0"/>
              </a:defRPr>
            </a:lvl3pPr>
            <a:lvl4pPr>
              <a:defRPr sz="2000" b="0">
                <a:latin typeface="Montserrat" pitchFamily="2" charset="0"/>
              </a:defRPr>
            </a:lvl4pPr>
            <a:lvl5pPr>
              <a:defRPr sz="2000" b="0">
                <a:latin typeface="Montserrat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CC01B-0640-F9D7-ABA3-4AC9AABD8C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 b="0">
                <a:latin typeface="Montserra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7221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8EBB0-2A30-80B3-E4A5-7DEE86A0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>
                <a:latin typeface="Montserra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A9A4C7-808D-9DC3-2D93-43EA0E01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Montserrat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166351-A966-9298-589E-743FD0711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84478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5DE9A-B6DE-C41B-0FC2-FDE7750DC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Montserrat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535593-5246-23C7-F11A-E38C43D84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itchFamily="2" charset="0"/>
              </a:defRPr>
            </a:lvl1pPr>
            <a:lvl2pPr>
              <a:defRPr>
                <a:latin typeface="Montserrat" pitchFamily="2" charset="0"/>
              </a:defRPr>
            </a:lvl2pPr>
            <a:lvl3pPr>
              <a:defRPr>
                <a:latin typeface="Montserrat" pitchFamily="2" charset="0"/>
              </a:defRPr>
            </a:lvl3pPr>
            <a:lvl4pPr>
              <a:defRPr>
                <a:latin typeface="Montserrat" pitchFamily="2" charset="0"/>
              </a:defRPr>
            </a:lvl4pPr>
            <a:lvl5pPr>
              <a:defRPr>
                <a:latin typeface="Montserra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3243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6045DC-A18F-2297-79C9-10790E9C8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48336-2C92-1972-6975-26D2A9E78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8691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Montserrat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7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4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57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46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57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46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8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3.png"/><Relationship Id="rId11" Type="http://schemas.openxmlformats.org/officeDocument/2006/relationships/image" Target="../media/image77.png"/><Relationship Id="rId5" Type="http://schemas.openxmlformats.org/officeDocument/2006/relationships/image" Target="../media/image72.png"/><Relationship Id="rId10" Type="http://schemas.openxmlformats.org/officeDocument/2006/relationships/image" Target="../media/image76.png"/><Relationship Id="rId4" Type="http://schemas.openxmlformats.org/officeDocument/2006/relationships/image" Target="../media/image71.png"/><Relationship Id="rId9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91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46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90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9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3.png"/><Relationship Id="rId7" Type="http://schemas.openxmlformats.org/officeDocument/2006/relationships/image" Target="../media/image104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Paint in motion from the bottom of the view">
            <a:extLst>
              <a:ext uri="{FF2B5EF4-FFF2-40B4-BE49-F238E27FC236}">
                <a16:creationId xmlns:a16="http://schemas.microsoft.com/office/drawing/2014/main" id="{D81D5B29-DB1A-F31F-BE34-3A17BDDB8E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91"/>
          <a:stretch>
            <a:fillRect/>
          </a:stretch>
        </p:blipFill>
        <p:spPr>
          <a:xfrm>
            <a:off x="575786" y="1318170"/>
            <a:ext cx="7850188" cy="4415716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E9C084-D47D-EDED-A59D-48C6A16E0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885487" cy="2238376"/>
          </a:xfrm>
        </p:spPr>
        <p:txBody>
          <a:bodyPr anchor="b">
            <a:normAutofit/>
          </a:bodyPr>
          <a:lstStyle/>
          <a:p>
            <a:r>
              <a:rPr lang="en-US" sz="3600"/>
              <a:t>Komputasi Persamaan Differensial Parsial</a:t>
            </a:r>
            <a:endParaRPr lang="en-ID" sz="3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4829E7-A2A3-FC4E-6A49-106DA6FD1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364" y="2876550"/>
            <a:ext cx="3865562" cy="2992438"/>
          </a:xfrm>
        </p:spPr>
        <p:txBody>
          <a:bodyPr>
            <a:normAutofit/>
          </a:bodyPr>
          <a:lstStyle/>
          <a:p>
            <a:r>
              <a:rPr lang="pt-BR" sz="2400" dirty="0"/>
              <a:t>Yoyok Adisetio Laksono</a:t>
            </a:r>
            <a:br>
              <a:rPr lang="en-US" sz="2400" dirty="0"/>
            </a:br>
            <a:r>
              <a:rPr lang="en-US" sz="2400" dirty="0" err="1"/>
              <a:t>Departemen</a:t>
            </a:r>
            <a:r>
              <a:rPr lang="en-US" sz="2400" dirty="0"/>
              <a:t> Fisika</a:t>
            </a:r>
            <a:br>
              <a:rPr lang="en-US" sz="2400" dirty="0"/>
            </a:br>
            <a:r>
              <a:rPr lang="en-US" sz="2400" dirty="0" err="1"/>
              <a:t>FMIPA</a:t>
            </a:r>
            <a:r>
              <a:rPr lang="en-US" sz="2400" dirty="0"/>
              <a:t> UM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682596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48228-6F05-D5AE-3DD4-4D8BC8FD4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Klasifikasi</a:t>
            </a:r>
            <a:r>
              <a:rPr lang="en-US" dirty="0"/>
              <a:t> PDE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A7D144-0E2D-3F4A-FCB3-C443D0419D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algn="just">
                  <a:lnSpc>
                    <a:spcPct val="110000"/>
                  </a:lnSpc>
                </a:pPr>
                <a:r>
                  <a:rPr lang="en-ID" dirty="0"/>
                  <a:t>Bentuk </a:t>
                </a:r>
                <a:r>
                  <a:rPr lang="en-ID" dirty="0" err="1"/>
                  <a:t>umum</a:t>
                </a:r>
                <a:r>
                  <a:rPr lang="en-ID" dirty="0"/>
                  <a:t> </a:t>
                </a:r>
                <a:r>
                  <a:rPr lang="en-ID" dirty="0" err="1"/>
                  <a:t>dari</a:t>
                </a:r>
                <a:r>
                  <a:rPr lang="en-ID" dirty="0"/>
                  <a:t> PDE </a:t>
                </a:r>
                <a:r>
                  <a:rPr lang="en-ID" dirty="0" err="1"/>
                  <a:t>tingkat</a:t>
                </a:r>
                <a:r>
                  <a:rPr lang="en-ID" dirty="0"/>
                  <a:t> dua </a:t>
                </a:r>
                <a:r>
                  <a:rPr lang="en-ID" dirty="0" err="1"/>
                  <a:t>dengan</a:t>
                </a:r>
                <a:r>
                  <a:rPr lang="en-ID" dirty="0"/>
                  <a:t> dua variable </a:t>
                </a:r>
                <a:r>
                  <a:rPr lang="en-ID" dirty="0" err="1"/>
                  <a:t>adalah</a:t>
                </a:r>
                <a:r>
                  <a:rPr lang="en-ID" dirty="0"/>
                  <a:t>: </a:t>
                </a:r>
                <a:br>
                  <a:rPr lang="en-ID" dirty="0"/>
                </a:br>
                <a14:m>
                  <m:oMath xmlns:m="http://schemas.openxmlformats.org/officeDocument/2006/math">
                    <m:r>
                      <a:rPr lang="en-ID" i="1" smtClean="0">
                        <a:latin typeface="Cambria Math" panose="02040503050406030204" pitchFamily="18" charset="0"/>
                      </a:rPr>
                      <m:t>𝐴</m:t>
                    </m:r>
                    <m:f>
                      <m:f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D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D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D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ID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D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D" i="1">
                        <a:latin typeface="Cambria Math" panose="02040503050406030204" pitchFamily="18" charset="0"/>
                      </a:rPr>
                      <m:t>𝐵</m:t>
                    </m:r>
                    <m:f>
                      <m:f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D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D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D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D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D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D" i="1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ID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D" i="1">
                        <a:latin typeface="Cambria Math" panose="02040503050406030204" pitchFamily="18" charset="0"/>
                      </a:rPr>
                      <m:t>𝐶</m:t>
                    </m:r>
                    <m:f>
                      <m:f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D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D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D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ID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D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D" i="1">
                        <a:latin typeface="Cambria Math" panose="02040503050406030204" pitchFamily="18" charset="0"/>
                      </a:rPr>
                      <m:t>𝐷</m:t>
                    </m:r>
                    <m:f>
                      <m:f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D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D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D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D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D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D" i="1">
                        <a:latin typeface="Cambria Math" panose="02040503050406030204" pitchFamily="18" charset="0"/>
                      </a:rPr>
                      <m:t>𝐸</m:t>
                    </m:r>
                    <m:f>
                      <m:f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D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D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D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D" i="1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ID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D" i="1">
                        <a:latin typeface="Cambria Math" panose="02040503050406030204" pitchFamily="18" charset="0"/>
                      </a:rPr>
                      <m:t>𝐹𝑢</m:t>
                    </m:r>
                    <m:r>
                      <a:rPr lang="en-ID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D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ID" dirty="0"/>
              </a:p>
              <a:p>
                <a:pPr algn="just">
                  <a:lnSpc>
                    <a:spcPct val="110000"/>
                  </a:lnSpc>
                </a:pPr>
                <a:r>
                  <a:rPr lang="en-ID" dirty="0"/>
                  <a:t>Atau:             </a:t>
                </a:r>
                <a14:m>
                  <m:oMath xmlns:m="http://schemas.openxmlformats.org/officeDocument/2006/math">
                    <m:r>
                      <a:rPr lang="en-ID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D" i="1">
                            <a:latin typeface="Cambria Math" panose="02040503050406030204" pitchFamily="18" charset="0"/>
                          </a:rPr>
                          <m:t>𝑥𝑥</m:t>
                        </m:r>
                      </m:sub>
                    </m:sSub>
                    <m:r>
                      <a:rPr lang="en-ID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D" i="1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D" i="1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ID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D" i="1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D" i="1"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</m:sSub>
                    <m:r>
                      <a:rPr lang="en-ID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D" i="1"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D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D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D" i="1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D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ID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D" i="1">
                        <a:latin typeface="Cambria Math" panose="02040503050406030204" pitchFamily="18" charset="0"/>
                      </a:rPr>
                      <m:t>𝐹𝑢</m:t>
                    </m:r>
                    <m:r>
                      <a:rPr lang="en-ID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D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ID" i="1" dirty="0"/>
              </a:p>
              <a:p>
                <a:pPr algn="just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ID" dirty="0"/>
                  <a:t> dan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D" dirty="0" err="1"/>
                  <a:t>adalah</a:t>
                </a:r>
                <a:r>
                  <a:rPr lang="en-ID" dirty="0"/>
                  <a:t> </a:t>
                </a:r>
                <a:r>
                  <a:rPr lang="en-ID" dirty="0" err="1"/>
                  <a:t>koefisien</a:t>
                </a:r>
                <a:r>
                  <a:rPr lang="en-ID" dirty="0"/>
                  <a:t> yang </a:t>
                </a:r>
                <a:r>
                  <a:rPr lang="en-ID" dirty="0" err="1"/>
                  <a:t>dapat</a:t>
                </a:r>
                <a:r>
                  <a:rPr lang="en-ID" dirty="0"/>
                  <a:t> </a:t>
                </a:r>
                <a:r>
                  <a:rPr lang="en-ID" dirty="0" err="1"/>
                  <a:t>berupa</a:t>
                </a:r>
                <a:r>
                  <a:rPr lang="en-ID" dirty="0"/>
                  <a:t> </a:t>
                </a:r>
                <a:r>
                  <a:rPr lang="en-ID" dirty="0" err="1"/>
                  <a:t>konstanta</a:t>
                </a:r>
                <a:r>
                  <a:rPr lang="en-ID" dirty="0"/>
                  <a:t> </a:t>
                </a:r>
                <a:r>
                  <a:rPr lang="en-ID" dirty="0" err="1"/>
                  <a:t>atau</a:t>
                </a:r>
                <a:r>
                  <a:rPr lang="en-ID" dirty="0"/>
                  <a:t> </a:t>
                </a:r>
                <a:r>
                  <a:rPr lang="en-ID" dirty="0" err="1"/>
                  <a:t>fungsi</a:t>
                </a:r>
                <a:r>
                  <a:rPr lang="en-ID" dirty="0"/>
                  <a:t> </a:t>
                </a:r>
                <a:r>
                  <a:rPr lang="en-ID" dirty="0" err="1"/>
                  <a:t>dari</a:t>
                </a:r>
                <a:r>
                  <a:rPr lang="en-ID" dirty="0"/>
                  <a:t> </a:t>
                </a:r>
                <a:r>
                  <a:rPr lang="en-ID" dirty="0" err="1"/>
                  <a:t>variabel</a:t>
                </a:r>
                <a:r>
                  <a:rPr lang="en-ID" dirty="0"/>
                  <a:t> </a:t>
                </a:r>
                <a:r>
                  <a:rPr lang="en-ID" dirty="0" err="1"/>
                  <a:t>independen</a:t>
                </a:r>
                <a:r>
                  <a:rPr lang="en-ID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D" dirty="0"/>
                  <a:t> dan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D" dirty="0"/>
                  <a:t> (</a:t>
                </a:r>
                <a:r>
                  <a:rPr lang="en-ID" dirty="0" err="1"/>
                  <a:t>yaitu</a:t>
                </a:r>
                <a:r>
                  <a:rPr lang="en-ID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ID" dirty="0"/>
                  <a:t>, </a:t>
                </a:r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ID" dirty="0"/>
                  <a:t>, </a:t>
                </a:r>
                <a:r>
                  <a:rPr lang="en-ID" dirty="0" err="1"/>
                  <a:t>dst</a:t>
                </a:r>
                <a:r>
                  <a:rPr lang="en-ID" dirty="0"/>
                  <a:t>.).</a:t>
                </a:r>
              </a:p>
              <a:p>
                <a:pPr algn="just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ID" dirty="0"/>
                  <a:t> </a:t>
                </a:r>
                <a:r>
                  <a:rPr lang="en-ID" dirty="0" err="1"/>
                  <a:t>adalah</a:t>
                </a:r>
                <a:r>
                  <a:rPr lang="en-ID" dirty="0"/>
                  <a:t> </a:t>
                </a:r>
                <a:r>
                  <a:rPr lang="en-ID" dirty="0" err="1"/>
                  <a:t>fungsi</a:t>
                </a:r>
                <a:r>
                  <a:rPr lang="en-ID" dirty="0"/>
                  <a:t> </a:t>
                </a:r>
                <a:r>
                  <a:rPr lang="en-ID" dirty="0" err="1"/>
                  <a:t>nonhomogen</a:t>
                </a:r>
                <a:r>
                  <a:rPr lang="en-ID" dirty="0"/>
                  <a:t>. Jika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D" dirty="0"/>
                  <a:t> </a:t>
                </a:r>
                <a:r>
                  <a:rPr lang="en-ID" dirty="0" err="1"/>
                  <a:t>persamaan</a:t>
                </a:r>
                <a:r>
                  <a:rPr lang="en-ID" dirty="0"/>
                  <a:t> </a:t>
                </a:r>
                <a:r>
                  <a:rPr lang="en-ID" dirty="0" err="1"/>
                  <a:t>menjadi</a:t>
                </a:r>
                <a:r>
                  <a:rPr lang="en-ID" dirty="0"/>
                  <a:t> </a:t>
                </a:r>
                <a:r>
                  <a:rPr lang="en-ID" dirty="0" err="1"/>
                  <a:t>homogen</a:t>
                </a:r>
                <a:r>
                  <a:rPr lang="en-ID" dirty="0"/>
                  <a:t>.</a:t>
                </a:r>
              </a:p>
              <a:p>
                <a:pPr algn="just"/>
                <a:endParaRPr lang="en-I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A7D144-0E2D-3F4A-FCB3-C443D0419D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070" r="-870" b="-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710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D140A-1E90-19A8-9E74-2A248FFD4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AB533-BCDA-496A-BF83-61B3D5634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Klasifikasi PDE</a:t>
            </a:r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BCBF3E-7C5A-6539-CB36-3A0FEC6E0C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 err="1"/>
                  <a:t>Berdasar</a:t>
                </a:r>
                <a:r>
                  <a:rPr lang="en-US" dirty="0"/>
                  <a:t> </a:t>
                </a:r>
                <a:r>
                  <a:rPr lang="en-US" dirty="0" err="1"/>
                  <a:t>diskriminan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endParaRPr lang="en-ID" dirty="0"/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ID" dirty="0"/>
                  <a:t>Jika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D" dirty="0"/>
                  <a:t>: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ID" dirty="0" err="1"/>
                  <a:t>Disebut</a:t>
                </a:r>
                <a:r>
                  <a:rPr lang="en-ID" dirty="0"/>
                  <a:t> </a:t>
                </a:r>
                <a:r>
                  <a:rPr lang="en-ID" dirty="0" err="1"/>
                  <a:t>sebagai</a:t>
                </a:r>
                <a:r>
                  <a:rPr lang="en-ID" dirty="0"/>
                  <a:t> </a:t>
                </a:r>
                <a:r>
                  <a:rPr lang="en-ID" dirty="0" err="1"/>
                  <a:t>persamaan</a:t>
                </a:r>
                <a:r>
                  <a:rPr lang="en-ID" dirty="0"/>
                  <a:t> </a:t>
                </a:r>
                <a:r>
                  <a:rPr lang="en-ID" b="1" dirty="0" err="1"/>
                  <a:t>Ellips</a:t>
                </a:r>
                <a:r>
                  <a:rPr lang="en-ID" b="1" dirty="0"/>
                  <a:t> (Elliptic)</a:t>
                </a:r>
                <a:r>
                  <a:rPr lang="en-ID" dirty="0"/>
                  <a:t>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ID" dirty="0" err="1"/>
                  <a:t>Persamaan</a:t>
                </a:r>
                <a:r>
                  <a:rPr lang="en-ID" dirty="0"/>
                  <a:t> </a:t>
                </a:r>
                <a:r>
                  <a:rPr lang="en-ID" dirty="0" err="1"/>
                  <a:t>jenis</a:t>
                </a:r>
                <a:r>
                  <a:rPr lang="en-ID" dirty="0"/>
                  <a:t> </a:t>
                </a:r>
                <a:r>
                  <a:rPr lang="en-ID" dirty="0" err="1"/>
                  <a:t>ini</a:t>
                </a:r>
                <a:r>
                  <a:rPr lang="en-ID" dirty="0"/>
                  <a:t> </a:t>
                </a:r>
                <a:r>
                  <a:rPr lang="en-ID" dirty="0" err="1"/>
                  <a:t>sering</a:t>
                </a:r>
                <a:r>
                  <a:rPr lang="en-ID" dirty="0"/>
                  <a:t> </a:t>
                </a:r>
                <a:r>
                  <a:rPr lang="en-ID" dirty="0" err="1"/>
                  <a:t>digunakan</a:t>
                </a:r>
                <a:r>
                  <a:rPr lang="en-ID" dirty="0"/>
                  <a:t> </a:t>
                </a:r>
                <a:r>
                  <a:rPr lang="en-ID" dirty="0" err="1"/>
                  <a:t>untuk</a:t>
                </a:r>
                <a:r>
                  <a:rPr lang="en-ID" dirty="0"/>
                  <a:t> </a:t>
                </a:r>
                <a:r>
                  <a:rPr lang="en-ID" dirty="0" err="1"/>
                  <a:t>memodelkan</a:t>
                </a:r>
                <a:r>
                  <a:rPr lang="en-ID" dirty="0"/>
                  <a:t> </a:t>
                </a:r>
                <a:r>
                  <a:rPr lang="en-ID" dirty="0" err="1"/>
                  <a:t>fenomena</a:t>
                </a:r>
                <a:r>
                  <a:rPr lang="en-ID" dirty="0"/>
                  <a:t> </a:t>
                </a:r>
                <a:r>
                  <a:rPr lang="en-ID" dirty="0" err="1"/>
                  <a:t>keadaan</a:t>
                </a:r>
                <a:r>
                  <a:rPr lang="en-ID" dirty="0"/>
                  <a:t> </a:t>
                </a:r>
                <a:r>
                  <a:rPr lang="en-ID" dirty="0" err="1"/>
                  <a:t>tunak</a:t>
                </a:r>
                <a:r>
                  <a:rPr lang="en-ID" dirty="0"/>
                  <a:t> (</a:t>
                </a:r>
                <a:r>
                  <a:rPr lang="en-ID" i="1" dirty="0"/>
                  <a:t>steady-state</a:t>
                </a:r>
                <a:r>
                  <a:rPr lang="en-ID" dirty="0"/>
                  <a:t>) </a:t>
                </a:r>
                <a:r>
                  <a:rPr lang="en-ID" dirty="0" err="1"/>
                  <a:t>atau</a:t>
                </a:r>
                <a:r>
                  <a:rPr lang="en-ID" dirty="0"/>
                  <a:t> </a:t>
                </a:r>
                <a:r>
                  <a:rPr lang="en-ID" dirty="0" err="1"/>
                  <a:t>keseimbangan</a:t>
                </a:r>
                <a:r>
                  <a:rPr lang="en-ID" dirty="0"/>
                  <a:t>, </a:t>
                </a:r>
                <a:r>
                  <a:rPr lang="en-ID" dirty="0" err="1"/>
                  <a:t>seperti</a:t>
                </a:r>
                <a:r>
                  <a:rPr lang="en-ID" dirty="0"/>
                  <a:t> </a:t>
                </a:r>
                <a:r>
                  <a:rPr lang="en-ID" dirty="0" err="1"/>
                  <a:t>distribusi</a:t>
                </a:r>
                <a:r>
                  <a:rPr lang="en-ID" dirty="0"/>
                  <a:t> </a:t>
                </a:r>
                <a:r>
                  <a:rPr lang="en-ID" dirty="0" err="1"/>
                  <a:t>suhu</a:t>
                </a:r>
                <a:r>
                  <a:rPr lang="en-ID" dirty="0"/>
                  <a:t> </a:t>
                </a:r>
                <a:r>
                  <a:rPr lang="en-ID" dirty="0" err="1"/>
                  <a:t>stasioner</a:t>
                </a:r>
                <a:r>
                  <a:rPr lang="en-ID" dirty="0"/>
                  <a:t> (</a:t>
                </a:r>
                <a:r>
                  <a:rPr lang="en-ID" dirty="0" err="1"/>
                  <a:t>persamaan</a:t>
                </a:r>
                <a:r>
                  <a:rPr lang="en-ID" dirty="0"/>
                  <a:t> Laplace </a:t>
                </a:r>
                <a:r>
                  <a:rPr lang="en-ID" dirty="0" err="1"/>
                  <a:t>atau</a:t>
                </a:r>
                <a:r>
                  <a:rPr lang="en-ID" dirty="0"/>
                  <a:t> Poisson).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ID" dirty="0" err="1"/>
                  <a:t>Contohnya</a:t>
                </a:r>
                <a:r>
                  <a:rPr lang="en-ID" dirty="0"/>
                  <a:t> Adalah: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en-ID" b="1" i="1">
                              <a:latin typeface="Cambria Math" panose="02040503050406030204" pitchFamily="18" charset="0"/>
                            </a:rPr>
                            <m:t>𝒙𝒙</m:t>
                          </m:r>
                        </m:sub>
                      </m:sSub>
                      <m:r>
                        <a:rPr lang="en-ID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D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D" i="1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en-ID" b="1" i="1">
                              <a:latin typeface="Cambria Math" panose="02040503050406030204" pitchFamily="18" charset="0"/>
                            </a:rPr>
                            <m:t>𝒚𝒚</m:t>
                          </m:r>
                        </m:sub>
                      </m:sSub>
                      <m:r>
                        <a:rPr lang="en-ID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D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I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BCBF3E-7C5A-6539-CB36-3A0FEC6E0C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t="-917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AADCD18-32CE-2497-7EE3-D21ABABFD268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496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18FFD-B263-F958-8B60-BC8FB4BB7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A506A-B62A-A88A-0C73-FBF85186E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Klasifikasi PDE</a:t>
            </a:r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2EA81B-9DA1-5757-C44A-2F96AAB157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sz="2200" dirty="0" err="1"/>
                  <a:t>Berdasar</a:t>
                </a:r>
                <a:r>
                  <a:rPr lang="en-US" sz="2200" dirty="0"/>
                  <a:t> </a:t>
                </a:r>
                <a:r>
                  <a:rPr lang="en-US" sz="2200" dirty="0" err="1"/>
                  <a:t>diskriminan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endParaRPr lang="en-ID" sz="2200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ID" sz="2200" dirty="0"/>
                  <a:t>Jika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D" sz="2200" dirty="0"/>
                  <a:t>: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ID" sz="2200" dirty="0" err="1"/>
                  <a:t>Disebut</a:t>
                </a:r>
                <a:r>
                  <a:rPr lang="en-ID" sz="2200" dirty="0"/>
                  <a:t> </a:t>
                </a:r>
                <a:r>
                  <a:rPr lang="en-ID" sz="2200" dirty="0" err="1"/>
                  <a:t>sebagai</a:t>
                </a:r>
                <a:r>
                  <a:rPr lang="en-ID" sz="2200" dirty="0"/>
                  <a:t> </a:t>
                </a:r>
                <a:r>
                  <a:rPr lang="en-ID" sz="2200" dirty="0" err="1"/>
                  <a:t>persamaan</a:t>
                </a:r>
                <a:r>
                  <a:rPr lang="en-ID" sz="2200" dirty="0"/>
                  <a:t> </a:t>
                </a:r>
                <a:r>
                  <a:rPr lang="en-ID" sz="2200" b="1" dirty="0"/>
                  <a:t>Parabola (Parabolic)</a:t>
                </a:r>
                <a:r>
                  <a:rPr lang="en-ID" sz="2200" dirty="0"/>
                  <a:t>.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ID" sz="2200" dirty="0" err="1"/>
                  <a:t>Persamaan</a:t>
                </a:r>
                <a:r>
                  <a:rPr lang="en-ID" sz="2200" dirty="0"/>
                  <a:t> </a:t>
                </a:r>
                <a:r>
                  <a:rPr lang="en-ID" sz="2200" dirty="0" err="1"/>
                  <a:t>jenis</a:t>
                </a:r>
                <a:r>
                  <a:rPr lang="en-ID" sz="2200" dirty="0"/>
                  <a:t> </a:t>
                </a:r>
                <a:r>
                  <a:rPr lang="en-ID" sz="2200" dirty="0" err="1"/>
                  <a:t>ini</a:t>
                </a:r>
                <a:r>
                  <a:rPr lang="en-ID" sz="2200" dirty="0"/>
                  <a:t> </a:t>
                </a:r>
                <a:r>
                  <a:rPr lang="en-ID" sz="2200" dirty="0" err="1"/>
                  <a:t>biasanya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memodelkan</a:t>
                </a:r>
                <a:r>
                  <a:rPr lang="en-ID" sz="2200" dirty="0"/>
                  <a:t> </a:t>
                </a:r>
                <a:r>
                  <a:rPr lang="en-ID" sz="2200" b="1" dirty="0"/>
                  <a:t>proses </a:t>
                </a:r>
                <a:r>
                  <a:rPr lang="en-ID" sz="2200" b="1" dirty="0" err="1"/>
                  <a:t>difusi</a:t>
                </a:r>
                <a:r>
                  <a:rPr lang="en-ID" sz="2200" dirty="0"/>
                  <a:t> </a:t>
                </a:r>
                <a:r>
                  <a:rPr lang="en-ID" sz="2200" dirty="0" err="1"/>
                  <a:t>atau</a:t>
                </a:r>
                <a:r>
                  <a:rPr lang="en-ID" sz="2200" dirty="0"/>
                  <a:t> </a:t>
                </a:r>
                <a:r>
                  <a:rPr lang="en-ID" sz="2200" b="1" dirty="0" err="1"/>
                  <a:t>transien</a:t>
                </a:r>
                <a:r>
                  <a:rPr lang="en-ID" sz="2200" b="1" dirty="0"/>
                  <a:t> (time-dependent)</a:t>
                </a:r>
                <a:r>
                  <a:rPr lang="en-ID" sz="2200" dirty="0"/>
                  <a:t>, </a:t>
                </a:r>
                <a:r>
                  <a:rPr lang="en-ID" sz="2200" dirty="0" err="1"/>
                  <a:t>seperti</a:t>
                </a:r>
                <a:r>
                  <a:rPr lang="en-ID" sz="2200" dirty="0"/>
                  <a:t> </a:t>
                </a:r>
                <a:r>
                  <a:rPr lang="en-ID" sz="2200" dirty="0" err="1"/>
                  <a:t>penyebaran</a:t>
                </a:r>
                <a:r>
                  <a:rPr lang="en-ID" sz="2200" dirty="0"/>
                  <a:t> </a:t>
                </a:r>
                <a:r>
                  <a:rPr lang="en-ID" sz="2200" dirty="0" err="1"/>
                  <a:t>panas</a:t>
                </a:r>
                <a:r>
                  <a:rPr lang="en-ID" sz="2200" dirty="0"/>
                  <a:t> </a:t>
                </a:r>
                <a:r>
                  <a:rPr lang="en-ID" sz="2200" dirty="0" err="1"/>
                  <a:t>atau</a:t>
                </a:r>
                <a:r>
                  <a:rPr lang="en-ID" sz="2200" dirty="0"/>
                  <a:t> </a:t>
                </a:r>
                <a:r>
                  <a:rPr lang="en-ID" sz="2200" dirty="0" err="1"/>
                  <a:t>difusi</a:t>
                </a:r>
                <a:r>
                  <a:rPr lang="en-ID" sz="2200" dirty="0"/>
                  <a:t> </a:t>
                </a:r>
                <a:r>
                  <a:rPr lang="en-ID" sz="2200" dirty="0" err="1"/>
                  <a:t>zat</a:t>
                </a:r>
                <a:r>
                  <a:rPr lang="en-ID" sz="2200" dirty="0"/>
                  <a:t>. 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ID" sz="2200" dirty="0" err="1"/>
                  <a:t>Contohnya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adalah</a:t>
                </a:r>
                <a:r>
                  <a:rPr lang="en-ID" sz="2200" dirty="0"/>
                  <a:t>: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sz="2200" i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ID" sz="2200" b="1" i="1">
                            <a:latin typeface="Cambria Math" panose="02040503050406030204" pitchFamily="18" charset="0"/>
                          </a:rPr>
                          <m:t>𝒙𝒙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D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sz="2200" i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1" i="1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ID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D" sz="2200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ID" sz="2200" dirty="0"/>
                  <a:t> (</a:t>
                </a:r>
                <a:r>
                  <a:rPr lang="en-ID" sz="2200" dirty="0" err="1"/>
                  <a:t>Persamaan</a:t>
                </a:r>
                <a:r>
                  <a:rPr lang="en-ID" sz="2200" dirty="0"/>
                  <a:t> </a:t>
                </a:r>
                <a:r>
                  <a:rPr lang="en-ID" sz="2200" dirty="0" err="1"/>
                  <a:t>panas</a:t>
                </a:r>
                <a:r>
                  <a:rPr lang="en-ID" sz="2200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2EA81B-9DA1-5757-C44A-2F96AAB157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t="-917" r="-69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ABF7204-CF91-CFC7-BFC8-879FCECE91C9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441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F4EC7-3C56-1F0B-B2C6-BF3F3911E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528A1-FB4A-A53B-01DA-43EEB676B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Klasifikasi PDE</a:t>
            </a:r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77357C-7291-57CC-6B1C-E3716AE5B4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sz="2200" dirty="0" err="1"/>
                  <a:t>Berdasar</a:t>
                </a:r>
                <a:r>
                  <a:rPr lang="en-US" sz="2200" dirty="0"/>
                  <a:t> </a:t>
                </a:r>
                <a:r>
                  <a:rPr lang="en-US" sz="2200" dirty="0" err="1"/>
                  <a:t>diskriminan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endParaRPr lang="en-ID" sz="2200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ID" sz="2200" dirty="0"/>
                  <a:t>Jika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D" sz="2200" dirty="0"/>
                  <a:t>: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ID" sz="2200" dirty="0" err="1"/>
                  <a:t>Disebut</a:t>
                </a:r>
                <a:r>
                  <a:rPr lang="en-ID" sz="2200" dirty="0"/>
                  <a:t> </a:t>
                </a:r>
                <a:r>
                  <a:rPr lang="en-ID" sz="2200" dirty="0" err="1"/>
                  <a:t>sebagai</a:t>
                </a:r>
                <a:r>
                  <a:rPr lang="en-ID" sz="2200" dirty="0"/>
                  <a:t> </a:t>
                </a:r>
                <a:r>
                  <a:rPr lang="en-ID" sz="2200" dirty="0" err="1"/>
                  <a:t>persamaan</a:t>
                </a:r>
                <a:r>
                  <a:rPr lang="en-ID" sz="2200" dirty="0"/>
                  <a:t> </a:t>
                </a:r>
                <a:r>
                  <a:rPr lang="en-ID" sz="2200" b="1" dirty="0" err="1"/>
                  <a:t>Hiperbola</a:t>
                </a:r>
                <a:r>
                  <a:rPr lang="en-ID" sz="2200" b="1" dirty="0"/>
                  <a:t> (Hyperbolic)</a:t>
                </a:r>
                <a:r>
                  <a:rPr lang="en-ID" sz="2200" dirty="0"/>
                  <a:t>.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ID" sz="2200" dirty="0" err="1"/>
                  <a:t>Persamaan</a:t>
                </a:r>
                <a:r>
                  <a:rPr lang="en-ID" sz="2200" dirty="0"/>
                  <a:t> </a:t>
                </a:r>
                <a:r>
                  <a:rPr lang="en-ID" sz="2200" dirty="0" err="1"/>
                  <a:t>jenis</a:t>
                </a:r>
                <a:r>
                  <a:rPr lang="en-ID" sz="2200" dirty="0"/>
                  <a:t> </a:t>
                </a:r>
                <a:r>
                  <a:rPr lang="en-ID" sz="2200" dirty="0" err="1"/>
                  <a:t>ini</a:t>
                </a:r>
                <a:r>
                  <a:rPr lang="en-ID" sz="2200" dirty="0"/>
                  <a:t> </a:t>
                </a:r>
                <a:r>
                  <a:rPr lang="en-ID" sz="2200" dirty="0" err="1"/>
                  <a:t>umumnya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memodelkan</a:t>
                </a:r>
                <a:r>
                  <a:rPr lang="en-ID" sz="2200" dirty="0"/>
                  <a:t> </a:t>
                </a:r>
                <a:r>
                  <a:rPr lang="en-ID" sz="2200" b="1" dirty="0" err="1"/>
                  <a:t>fenomena</a:t>
                </a:r>
                <a:r>
                  <a:rPr lang="en-ID" sz="2200" b="1" dirty="0"/>
                  <a:t> </a:t>
                </a:r>
                <a:r>
                  <a:rPr lang="en-ID" sz="2200" b="1" dirty="0" err="1"/>
                  <a:t>gelombang</a:t>
                </a:r>
                <a:r>
                  <a:rPr lang="en-ID" sz="2200" dirty="0"/>
                  <a:t> </a:t>
                </a:r>
                <a:r>
                  <a:rPr lang="en-ID" sz="2200" dirty="0" err="1"/>
                  <a:t>atau</a:t>
                </a:r>
                <a:r>
                  <a:rPr lang="en-ID" sz="2200" dirty="0"/>
                  <a:t> </a:t>
                </a:r>
                <a:r>
                  <a:rPr lang="en-ID" sz="2200" b="1" dirty="0" err="1"/>
                  <a:t>perambatan</a:t>
                </a:r>
                <a:r>
                  <a:rPr lang="en-ID" sz="2200" dirty="0"/>
                  <a:t>, di mana </a:t>
                </a:r>
                <a:r>
                  <a:rPr lang="en-ID" sz="2200" dirty="0" err="1"/>
                  <a:t>gangguan</a:t>
                </a:r>
                <a:r>
                  <a:rPr lang="en-ID" sz="2200" dirty="0"/>
                  <a:t> </a:t>
                </a:r>
                <a:r>
                  <a:rPr lang="en-ID" sz="2200" dirty="0" err="1"/>
                  <a:t>bergerak</a:t>
                </a:r>
                <a:r>
                  <a:rPr lang="en-ID" sz="2200" dirty="0"/>
                  <a:t> </a:t>
                </a:r>
                <a:r>
                  <a:rPr lang="en-ID" sz="2200" dirty="0" err="1"/>
                  <a:t>dengan</a:t>
                </a:r>
                <a:r>
                  <a:rPr lang="en-ID" sz="2200" dirty="0"/>
                  <a:t> </a:t>
                </a:r>
                <a:r>
                  <a:rPr lang="en-ID" sz="2200" dirty="0" err="1"/>
                  <a:t>kecepatan</a:t>
                </a:r>
                <a:r>
                  <a:rPr lang="en-ID" sz="2200" dirty="0"/>
                  <a:t> </a:t>
                </a:r>
                <a:r>
                  <a:rPr lang="en-ID" sz="2200" dirty="0" err="1"/>
                  <a:t>terbatas</a:t>
                </a:r>
                <a:r>
                  <a:rPr lang="en-ID" sz="2200" dirty="0"/>
                  <a:t>. 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ID" sz="2200" dirty="0" err="1"/>
                  <a:t>Contohnya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adalah</a:t>
                </a:r>
                <a:r>
                  <a:rPr lang="en-ID" sz="2200" dirty="0"/>
                  <a:t>: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D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sz="2200" i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1" i="1" smtClean="0">
                            <a:latin typeface="Cambria Math" panose="02040503050406030204" pitchFamily="18" charset="0"/>
                          </a:rPr>
                          <m:t>tt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ID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D" sz="2200" i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1" smtClean="0">
                            <a:latin typeface="Cambria Math" panose="02040503050406030204" pitchFamily="18" charset="0"/>
                          </a:rPr>
                          <m:t>xx</m:t>
                        </m:r>
                      </m:sub>
                    </m:sSub>
                    <m:r>
                      <a:rPr lang="en-ID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D" sz="2200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ID" sz="2200" dirty="0"/>
                  <a:t> (</a:t>
                </a:r>
                <a:r>
                  <a:rPr lang="en-ID" sz="2200" dirty="0" err="1"/>
                  <a:t>Persamaan</a:t>
                </a:r>
                <a:r>
                  <a:rPr lang="en-ID" sz="2200" dirty="0"/>
                  <a:t> </a:t>
                </a:r>
                <a:r>
                  <a:rPr lang="en-ID" sz="2200" dirty="0" err="1"/>
                  <a:t>gelombang</a:t>
                </a:r>
                <a:r>
                  <a:rPr lang="en-ID" sz="2200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77357C-7291-57CC-6B1C-E3716AE5B4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t="-917" r="-69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B006F58-49C3-8F40-97D9-CD698B633FCE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763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2A353-C0E7-0C20-6FC4-4C7949E20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AF3C-01A3-F328-8498-17A303020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PDE vs ODE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F46B4-CD58-19CE-905C-C82BD890A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ID" sz="2200" dirty="0"/>
              <a:t>ODE </a:t>
            </a:r>
            <a:r>
              <a:rPr lang="en-ID" sz="2200" dirty="0" err="1"/>
              <a:t>hanya</a:t>
            </a:r>
            <a:r>
              <a:rPr lang="en-ID" sz="2200" dirty="0"/>
              <a:t> </a:t>
            </a:r>
            <a:r>
              <a:rPr lang="en-ID" sz="2200" dirty="0" err="1"/>
              <a:t>memiliki</a:t>
            </a:r>
            <a:r>
              <a:rPr lang="en-ID" sz="2200" dirty="0"/>
              <a:t> </a:t>
            </a:r>
            <a:r>
              <a:rPr lang="en-ID" sz="2200" b="1" dirty="0" err="1"/>
              <a:t>satu</a:t>
            </a:r>
            <a:r>
              <a:rPr lang="en-ID" sz="2200" b="1" dirty="0"/>
              <a:t> </a:t>
            </a:r>
            <a:r>
              <a:rPr lang="en-ID" sz="2200" b="1" dirty="0" err="1"/>
              <a:t>variabel</a:t>
            </a:r>
            <a:r>
              <a:rPr lang="en-ID" sz="2200" b="1" dirty="0"/>
              <a:t> </a:t>
            </a:r>
            <a:r>
              <a:rPr lang="en-ID" sz="2200" b="1" dirty="0" err="1"/>
              <a:t>independen</a:t>
            </a:r>
            <a:r>
              <a:rPr lang="en-ID" sz="2200" dirty="0"/>
              <a:t>. Metode </a:t>
            </a:r>
            <a:r>
              <a:rPr lang="en-ID" sz="2200" dirty="0" err="1"/>
              <a:t>standar</a:t>
            </a:r>
            <a:r>
              <a:rPr lang="en-ID" sz="2200"/>
              <a:t>, seperti </a:t>
            </a:r>
            <a:r>
              <a:rPr lang="en-ID" sz="2200" dirty="0"/>
              <a:t>RK4</a:t>
            </a:r>
            <a:r>
              <a:rPr lang="en-ID" sz="2200"/>
              <a:t>, dapat diterapkan di ODE. </a:t>
            </a:r>
            <a:r>
              <a:rPr lang="en-ID" sz="2200" dirty="0"/>
              <a:t>Karena PDE </a:t>
            </a:r>
            <a:r>
              <a:rPr lang="en-ID" sz="2200" dirty="0" err="1"/>
              <a:t>memiliki</a:t>
            </a:r>
            <a:r>
              <a:rPr lang="en-ID" sz="2200" dirty="0"/>
              <a:t> </a:t>
            </a:r>
            <a:r>
              <a:rPr lang="en-ID" sz="2200" dirty="0" err="1"/>
              <a:t>beberapa</a:t>
            </a:r>
            <a:r>
              <a:rPr lang="en-ID" sz="2200" dirty="0"/>
              <a:t> </a:t>
            </a:r>
            <a:r>
              <a:rPr lang="en-ID" sz="2200" dirty="0" err="1"/>
              <a:t>variabel</a:t>
            </a:r>
            <a:r>
              <a:rPr lang="en-ID" sz="2200" dirty="0"/>
              <a:t> </a:t>
            </a:r>
            <a:r>
              <a:rPr lang="en-ID" sz="2200" dirty="0" err="1"/>
              <a:t>independen</a:t>
            </a:r>
            <a:r>
              <a:rPr lang="en-ID" sz="2200"/>
              <a:t>, maka penggunaan RK4 </a:t>
            </a:r>
            <a:r>
              <a:rPr lang="en-ID" sz="2200" dirty="0" err="1"/>
              <a:t>secara</a:t>
            </a:r>
            <a:r>
              <a:rPr lang="en-ID" sz="2200" dirty="0"/>
              <a:t> </a:t>
            </a:r>
            <a:r>
              <a:rPr lang="en-ID" sz="2200" dirty="0" err="1"/>
              <a:t>simultan</a:t>
            </a:r>
            <a:r>
              <a:rPr lang="en-ID" sz="2200" dirty="0"/>
              <a:t> dan </a:t>
            </a:r>
            <a:r>
              <a:rPr lang="en-ID" sz="2200" dirty="0" err="1"/>
              <a:t>independen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setiap</a:t>
            </a:r>
            <a:r>
              <a:rPr lang="en-ID" sz="2200" dirty="0"/>
              <a:t> </a:t>
            </a:r>
            <a:r>
              <a:rPr lang="en-ID" sz="2200" dirty="0" err="1"/>
              <a:t>variabel</a:t>
            </a:r>
            <a:r>
              <a:rPr lang="en-ID" sz="2200"/>
              <a:t>, akan sangat </a:t>
            </a:r>
            <a:r>
              <a:rPr lang="en-ID" sz="2200" dirty="0" err="1"/>
              <a:t>rumit</a:t>
            </a:r>
            <a:r>
              <a:rPr lang="en-ID" sz="2200" dirty="0"/>
              <a:t>.</a:t>
            </a:r>
          </a:p>
          <a:p>
            <a:pPr algn="just">
              <a:lnSpc>
                <a:spcPct val="100000"/>
              </a:lnSpc>
            </a:pPr>
            <a:r>
              <a:rPr lang="en-ID" sz="2200" dirty="0" err="1"/>
              <a:t>Terdapat</a:t>
            </a:r>
            <a:r>
              <a:rPr lang="en-ID" sz="2200" dirty="0"/>
              <a:t> </a:t>
            </a:r>
            <a:r>
              <a:rPr lang="en-ID" sz="2200" b="1" dirty="0" err="1"/>
              <a:t>lebih</a:t>
            </a:r>
            <a:r>
              <a:rPr lang="en-ID" sz="2200" b="1" dirty="0"/>
              <a:t> </a:t>
            </a:r>
            <a:r>
              <a:rPr lang="en-ID" sz="2200" b="1" dirty="0" err="1"/>
              <a:t>banyak</a:t>
            </a:r>
            <a:r>
              <a:rPr lang="en-ID" sz="2200" b="1" dirty="0"/>
              <a:t> </a:t>
            </a:r>
            <a:r>
              <a:rPr lang="en-ID" sz="2200" b="1" dirty="0" err="1"/>
              <a:t>persamaan</a:t>
            </a:r>
            <a:r>
              <a:rPr lang="en-ID" sz="2200" dirty="0"/>
              <a:t> yang </a:t>
            </a:r>
            <a:r>
              <a:rPr lang="en-ID" sz="2200" dirty="0" err="1"/>
              <a:t>harus</a:t>
            </a:r>
            <a:r>
              <a:rPr lang="en-ID" sz="2200" dirty="0"/>
              <a:t> </a:t>
            </a:r>
            <a:r>
              <a:rPr lang="en-ID" sz="2200" err="1"/>
              <a:t>diselesaikan</a:t>
            </a:r>
            <a:r>
              <a:rPr lang="en-ID" sz="2200"/>
              <a:t> dalam PDE </a:t>
            </a:r>
            <a:r>
              <a:rPr lang="en-ID" sz="2200" dirty="0" err="1"/>
              <a:t>dibandingkan</a:t>
            </a:r>
            <a:r>
              <a:rPr lang="en-ID" sz="2200" dirty="0"/>
              <a:t> </a:t>
            </a:r>
            <a:r>
              <a:rPr lang="en-ID" sz="2200" dirty="0" err="1"/>
              <a:t>dengan</a:t>
            </a:r>
            <a:r>
              <a:rPr lang="en-ID" sz="2200" dirty="0"/>
              <a:t> ODE</a:t>
            </a:r>
            <a:r>
              <a:rPr lang="en-ID" sz="2200"/>
              <a:t>, informasi yang dibutuhkan lebih </a:t>
            </a:r>
            <a:r>
              <a:rPr lang="en-ID" sz="2200" dirty="0" err="1"/>
              <a:t>dari</a:t>
            </a:r>
            <a:r>
              <a:rPr lang="en-ID" sz="2200" dirty="0"/>
              <a:t> </a:t>
            </a:r>
            <a:r>
              <a:rPr lang="en-ID" sz="2200" dirty="0" err="1"/>
              <a:t>sekadar</a:t>
            </a:r>
            <a:r>
              <a:rPr lang="en-ID" sz="2200" dirty="0"/>
              <a:t> dua </a:t>
            </a:r>
            <a:r>
              <a:rPr lang="en-ID" sz="2200" dirty="0" err="1"/>
              <a:t>kondisi</a:t>
            </a:r>
            <a:r>
              <a:rPr lang="en-ID" sz="2200" dirty="0"/>
              <a:t> </a:t>
            </a:r>
            <a:r>
              <a:rPr lang="en-ID" sz="2200" dirty="0" err="1"/>
              <a:t>awal</a:t>
            </a:r>
            <a:r>
              <a:rPr lang="en-ID" sz="2200" dirty="0"/>
              <a:t> </a:t>
            </a:r>
            <a:r>
              <a:rPr lang="en-ID" sz="2200" dirty="0" err="1"/>
              <a:t>atau</a:t>
            </a:r>
            <a:r>
              <a:rPr lang="en-ID" sz="2200" dirty="0"/>
              <a:t> </a:t>
            </a:r>
            <a:r>
              <a:rPr lang="en-ID" sz="2200" err="1"/>
              <a:t>kondisi</a:t>
            </a:r>
            <a:r>
              <a:rPr lang="en-ID" sz="2200"/>
              <a:t> batas.</a:t>
            </a:r>
            <a:endParaRPr lang="en-ID" sz="2200" dirty="0"/>
          </a:p>
          <a:p>
            <a:pPr algn="just">
              <a:lnSpc>
                <a:spcPct val="100000"/>
              </a:lnSpc>
            </a:pPr>
            <a:r>
              <a:rPr lang="en-ID" sz="2200" dirty="0"/>
              <a:t>Karena </a:t>
            </a:r>
            <a:r>
              <a:rPr lang="en-ID" sz="2200" dirty="0" err="1"/>
              <a:t>setiap</a:t>
            </a:r>
            <a:r>
              <a:rPr lang="en-ID" sz="2200" dirty="0"/>
              <a:t> PDE </a:t>
            </a:r>
            <a:r>
              <a:rPr lang="en-ID" sz="2200" dirty="0" err="1"/>
              <a:t>seringkali</a:t>
            </a:r>
            <a:r>
              <a:rPr lang="en-ID" sz="2200" dirty="0"/>
              <a:t> </a:t>
            </a:r>
            <a:r>
              <a:rPr lang="en-ID" sz="2200" b="1" err="1"/>
              <a:t>memiliki</a:t>
            </a:r>
            <a:r>
              <a:rPr lang="en-ID" sz="2200" b="1"/>
              <a:t> banyak kondisi batas</a:t>
            </a:r>
            <a:r>
              <a:rPr lang="en-ID" sz="2200"/>
              <a:t>, maka harus dikembangkan algoritma </a:t>
            </a:r>
            <a:r>
              <a:rPr lang="en-ID" sz="2200" dirty="0" err="1"/>
              <a:t>khusus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err="1"/>
              <a:t>setiap</a:t>
            </a:r>
            <a:r>
              <a:rPr lang="en-ID" sz="2200"/>
              <a:t> permasalahan.</a:t>
            </a:r>
            <a:endParaRPr lang="en-ID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33E8CC-4294-CE76-DF7B-F57A933CCE5B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912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729FB-901B-22B2-7C12-6C0404236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7EB5F-2C60-D779-31A0-87EDA64CC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Kondisi Batas Dirichlet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C28FC9-AEAD-2C8E-EFB9-03D178BA0A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292985"/>
                <a:ext cx="7873208" cy="3985895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ID" sz="2200" dirty="0"/>
                  <a:t>Jika </a:t>
                </a:r>
                <a:r>
                  <a:rPr lang="en-ID" sz="2200" dirty="0" err="1"/>
                  <a:t>kondisi</a:t>
                </a:r>
                <a:r>
                  <a:rPr lang="en-ID" sz="2200" dirty="0"/>
                  <a:t> batas </a:t>
                </a:r>
                <a:r>
                  <a:rPr lang="en-ID" sz="2200" dirty="0" err="1"/>
                  <a:t>adalah</a:t>
                </a:r>
                <a:r>
                  <a:rPr lang="en-ID" sz="2200" dirty="0"/>
                  <a:t> </a:t>
                </a:r>
                <a:r>
                  <a:rPr lang="en-ID" sz="2200" b="1" dirty="0" err="1"/>
                  <a:t>nilai</a:t>
                </a:r>
                <a:r>
                  <a:rPr lang="en-ID" sz="2200" b="1" dirty="0"/>
                  <a:t> </a:t>
                </a:r>
                <a:r>
                  <a:rPr lang="en-ID" sz="2200" b="1" dirty="0" err="1"/>
                  <a:t>solusi</a:t>
                </a:r>
                <a:r>
                  <a:rPr lang="en-ID" sz="2200" b="1" dirty="0"/>
                  <a:t> pada </a:t>
                </a:r>
                <a:r>
                  <a:rPr lang="en-ID" sz="2200" b="1" dirty="0" err="1"/>
                  <a:t>permukaan</a:t>
                </a:r>
                <a:r>
                  <a:rPr lang="en-ID" sz="2200" b="1" dirty="0"/>
                  <a:t> </a:t>
                </a:r>
                <a:r>
                  <a:rPr lang="en-ID" sz="2200" b="1" dirty="0" err="1"/>
                  <a:t>tertutup</a:t>
                </a:r>
                <a:r>
                  <a:rPr lang="en-ID" sz="2200" dirty="0"/>
                  <a:t> di </a:t>
                </a:r>
                <a:r>
                  <a:rPr lang="en-ID" sz="2200" dirty="0" err="1"/>
                  <a:t>sekitarnya</a:t>
                </a:r>
                <a:r>
                  <a:rPr lang="en-ID" sz="2200" dirty="0"/>
                  <a:t>, </a:t>
                </a:r>
                <a:r>
                  <a:rPr lang="en-ID" sz="2200" dirty="0" err="1"/>
                  <a:t>maka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disebut</a:t>
                </a:r>
                <a:r>
                  <a:rPr lang="en-ID" sz="2200" dirty="0"/>
                  <a:t> </a:t>
                </a:r>
                <a:r>
                  <a:rPr lang="en-ID" sz="2200" dirty="0" err="1"/>
                  <a:t>sebagai</a:t>
                </a:r>
                <a:r>
                  <a:rPr lang="en-ID" sz="2200" dirty="0"/>
                  <a:t> </a:t>
                </a:r>
                <a:r>
                  <a:rPr lang="en-ID" sz="2200" dirty="0" err="1"/>
                  <a:t>kondisi</a:t>
                </a:r>
                <a:r>
                  <a:rPr lang="en-ID" sz="2200" dirty="0"/>
                  <a:t> batas Dirichlet.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ID" sz="2200" b="1" dirty="0" err="1"/>
                  <a:t>CONTOH</a:t>
                </a:r>
                <a:r>
                  <a:rPr lang="en-ID" sz="2200" dirty="0"/>
                  <a:t>: Jika </a:t>
                </a:r>
                <a:r>
                  <a:rPr lang="en-ID" sz="2200" dirty="0" err="1"/>
                  <a:t>kita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menyimulasikan</a:t>
                </a:r>
                <a:r>
                  <a:rPr lang="en-ID" sz="2200" dirty="0"/>
                  <a:t> </a:t>
                </a:r>
                <a:r>
                  <a:rPr lang="en-ID" sz="2200" dirty="0" err="1"/>
                  <a:t>suhu</a:t>
                </a:r>
                <a:r>
                  <a:rPr lang="en-ID" sz="2200" dirty="0"/>
                  <a:t> </a:t>
                </a:r>
                <a:r>
                  <a:rPr lang="en-ID" sz="2200" dirty="0" err="1"/>
                  <a:t>dalam</a:t>
                </a:r>
                <a:r>
                  <a:rPr lang="en-ID" sz="2200" dirty="0"/>
                  <a:t> </a:t>
                </a:r>
                <a:r>
                  <a:rPr lang="en-ID" sz="2200" dirty="0" err="1"/>
                  <a:t>sebuah</a:t>
                </a:r>
                <a:r>
                  <a:rPr lang="en-ID" sz="2200" dirty="0"/>
                  <a:t> bola, dan </a:t>
                </a:r>
                <a:r>
                  <a:rPr lang="en-ID" sz="2200" dirty="0" err="1"/>
                  <a:t>kita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menetapkan</a:t>
                </a:r>
                <a:r>
                  <a:rPr lang="en-ID" sz="2200" dirty="0"/>
                  <a:t> </a:t>
                </a:r>
                <a:r>
                  <a:rPr lang="en-ID" sz="2200" dirty="0" err="1"/>
                  <a:t>suhu</a:t>
                </a:r>
                <a:r>
                  <a:rPr lang="en-ID" sz="2200" dirty="0"/>
                  <a:t> </a:t>
                </a:r>
                <a:r>
                  <a:rPr lang="en-ID" sz="2200" dirty="0" err="1"/>
                  <a:t>tetap</a:t>
                </a:r>
                <a:r>
                  <a:rPr lang="en-ID" sz="2200" dirty="0"/>
                  <a:t> 100°C di </a:t>
                </a:r>
                <a:r>
                  <a:rPr lang="en-ID" sz="2200" dirty="0" err="1"/>
                  <a:t>permukaan</a:t>
                </a:r>
                <a:r>
                  <a:rPr lang="en-ID" sz="2200" dirty="0"/>
                  <a:t> bola, </a:t>
                </a:r>
                <a:r>
                  <a:rPr lang="en-ID" sz="2200" err="1"/>
                  <a:t>maka</a:t>
                </a:r>
                <a:r>
                  <a:rPr lang="en-ID" sz="2200"/>
                  <a:t> hal itu </a:t>
                </a:r>
                <a:r>
                  <a:rPr lang="en-ID" sz="2200" dirty="0" err="1"/>
                  <a:t>adalah</a:t>
                </a:r>
                <a:r>
                  <a:rPr lang="en-ID" sz="2200" dirty="0"/>
                  <a:t> </a:t>
                </a:r>
                <a:r>
                  <a:rPr lang="en-ID" sz="2200" dirty="0" err="1"/>
                  <a:t>kondisi</a:t>
                </a:r>
                <a:r>
                  <a:rPr lang="en-ID" sz="2200" dirty="0"/>
                  <a:t> batas Dirichlet.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ID" sz="2200" dirty="0" err="1"/>
                  <a:t>Secara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matematis</a:t>
                </a:r>
                <a:r>
                  <a:rPr lang="en-ID" sz="2200" dirty="0"/>
                  <a:t>: </a:t>
                </a:r>
                <a:r>
                  <a:rPr lang="en-ID" sz="2200" dirty="0" err="1"/>
                  <a:t>jika</a:t>
                </a:r>
                <a:r>
                  <a:rPr lang="en-ID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D" sz="2200" dirty="0"/>
                  <a:t> </a:t>
                </a:r>
                <a:r>
                  <a:rPr lang="en-ID" sz="2200" dirty="0" err="1"/>
                  <a:t>untuk</a:t>
                </a:r>
                <a:r>
                  <a:rPr lang="en-ID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D" sz="2200" dirty="0"/>
                  <a:t> di batas domain, </a:t>
                </a:r>
                <a:r>
                  <a:rPr lang="en-ID" sz="2200" dirty="0" err="1"/>
                  <a:t>maka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ini</a:t>
                </a:r>
                <a:r>
                  <a:rPr lang="en-ID" sz="2200" dirty="0"/>
                  <a:t> </a:t>
                </a:r>
                <a:r>
                  <a:rPr lang="en-ID" sz="2200" dirty="0" err="1"/>
                  <a:t>adalah</a:t>
                </a:r>
                <a:r>
                  <a:rPr lang="en-ID" sz="2200" dirty="0"/>
                  <a:t> </a:t>
                </a:r>
                <a:r>
                  <a:rPr lang="en-ID" sz="2200" dirty="0" err="1"/>
                  <a:t>kondisi</a:t>
                </a:r>
                <a:r>
                  <a:rPr lang="en-ID" sz="2200" dirty="0"/>
                  <a:t> </a:t>
                </a:r>
                <a:r>
                  <a:rPr lang="en-ID" sz="2200" b="1" dirty="0"/>
                  <a:t>Dirichlet</a:t>
                </a:r>
                <a:r>
                  <a:rPr lang="en-ID" sz="2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C28FC9-AEAD-2C8E-EFB9-03D178BA0A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292985"/>
                <a:ext cx="7873208" cy="3985895"/>
              </a:xfrm>
              <a:blipFill>
                <a:blip r:embed="rId2"/>
                <a:stretch>
                  <a:fillRect l="-1007" t="-917" r="-93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4F5ECD9-1F75-F417-435B-DA7A298B8768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7AFE6170-AA09-2800-A9B0-718BB32B476E}"/>
              </a:ext>
            </a:extLst>
          </p:cNvPr>
          <p:cNvSpPr/>
          <p:nvPr/>
        </p:nvSpPr>
        <p:spPr>
          <a:xfrm>
            <a:off x="9042400" y="2672080"/>
            <a:ext cx="2174240" cy="2174240"/>
          </a:xfrm>
          <a:prstGeom prst="flowChartConnector">
            <a:avLst/>
          </a:prstGeom>
          <a:gradFill flip="none" rotWithShape="1">
            <a:gsLst>
              <a:gs pos="0">
                <a:srgbClr val="C00000"/>
              </a:gs>
              <a:gs pos="32000">
                <a:srgbClr val="FF0000"/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24D698-63AE-03D8-D3AC-E42C378A5B64}"/>
                  </a:ext>
                </a:extLst>
              </p:cNvPr>
              <p:cNvSpPr txBox="1"/>
              <p:nvPr/>
            </p:nvSpPr>
            <p:spPr>
              <a:xfrm>
                <a:off x="9691259" y="2292985"/>
                <a:ext cx="8765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ID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24D698-63AE-03D8-D3AC-E42C378A5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259" y="2292985"/>
                <a:ext cx="87652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636ACDB-516B-5AB1-A7DA-F93D3527A851}"/>
                  </a:ext>
                </a:extLst>
              </p:cNvPr>
              <p:cNvSpPr txBox="1"/>
              <p:nvPr/>
            </p:nvSpPr>
            <p:spPr>
              <a:xfrm>
                <a:off x="9344990" y="5360352"/>
                <a:ext cx="2395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ID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636ACDB-516B-5AB1-A7DA-F93D3527A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4990" y="5360352"/>
                <a:ext cx="2395528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62D6A7AE-B6DC-04F2-DAFE-D700F0FFD677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>
          <a:xfrm rot="16200000" flipH="1">
            <a:off x="10079121" y="4896719"/>
            <a:ext cx="514032" cy="413234"/>
          </a:xfrm>
          <a:prstGeom prst="curvedConnector3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3F6E43D-C02A-B1C0-0702-F3CA0C676E0D}"/>
              </a:ext>
            </a:extLst>
          </p:cNvPr>
          <p:cNvCxnSpPr>
            <a:endCxn id="5" idx="6"/>
          </p:cNvCxnSpPr>
          <p:nvPr/>
        </p:nvCxnSpPr>
        <p:spPr>
          <a:xfrm>
            <a:off x="10123170" y="3759200"/>
            <a:ext cx="1093470" cy="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526CBA-0492-480D-EAAB-5BE557E46004}"/>
                  </a:ext>
                </a:extLst>
              </p:cNvPr>
              <p:cNvSpPr txBox="1"/>
              <p:nvPr/>
            </p:nvSpPr>
            <p:spPr>
              <a:xfrm>
                <a:off x="10434844" y="3400028"/>
                <a:ext cx="3615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D">
                  <a:solidFill>
                    <a:schemeClr val="accent4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526CBA-0492-480D-EAAB-5BE557E46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4844" y="3400028"/>
                <a:ext cx="36157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5798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88832-CFAA-F578-7F90-6E0C7B6C3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EB463A1-E2A0-919E-0AB5-82E30AA51A01}"/>
              </a:ext>
            </a:extLst>
          </p:cNvPr>
          <p:cNvSpPr/>
          <p:nvPr/>
        </p:nvSpPr>
        <p:spPr>
          <a:xfrm>
            <a:off x="8209280" y="3007360"/>
            <a:ext cx="3190240" cy="1519873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68000">
                <a:srgbClr val="FF0000"/>
              </a:gs>
              <a:gs pos="100000">
                <a:srgbClr val="FF0066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7292E7-94FC-E23B-017E-99D7BB14F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Kondisi Batas Neumann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1F10AC-F183-778B-3F8D-68A0C633C0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292985"/>
                <a:ext cx="6680200" cy="3274695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ID" sz="2200" dirty="0"/>
                  <a:t>Jika </a:t>
                </a:r>
                <a:r>
                  <a:rPr lang="en-ID" sz="2200" dirty="0" err="1"/>
                  <a:t>kondisi</a:t>
                </a:r>
                <a:r>
                  <a:rPr lang="en-ID" sz="2200" dirty="0"/>
                  <a:t> batas </a:t>
                </a:r>
                <a:r>
                  <a:rPr lang="en-ID" sz="2200" dirty="0" err="1"/>
                  <a:t>adalah</a:t>
                </a:r>
                <a:r>
                  <a:rPr lang="en-ID" sz="2200" dirty="0"/>
                  <a:t> </a:t>
                </a:r>
                <a:r>
                  <a:rPr lang="en-ID" sz="2200" b="1" dirty="0" err="1"/>
                  <a:t>nilai</a:t>
                </a:r>
                <a:r>
                  <a:rPr lang="en-ID" sz="2200" b="1" dirty="0"/>
                  <a:t> </a:t>
                </a:r>
                <a:r>
                  <a:rPr lang="en-ID" sz="2200" b="1" dirty="0" err="1"/>
                  <a:t>turunan</a:t>
                </a:r>
                <a:r>
                  <a:rPr lang="en-ID" sz="2200" b="1" dirty="0"/>
                  <a:t> normal</a:t>
                </a:r>
                <a:r>
                  <a:rPr lang="en-ID" sz="2200" dirty="0"/>
                  <a:t> pada </a:t>
                </a:r>
                <a:r>
                  <a:rPr lang="en-ID" sz="2200" dirty="0" err="1"/>
                  <a:t>permukaan</a:t>
                </a:r>
                <a:r>
                  <a:rPr lang="en-ID" sz="2200" dirty="0"/>
                  <a:t> di </a:t>
                </a:r>
                <a:r>
                  <a:rPr lang="en-ID" sz="2200" dirty="0" err="1"/>
                  <a:t>sekitarnya</a:t>
                </a:r>
                <a:r>
                  <a:rPr lang="en-ID" sz="2200" dirty="0"/>
                  <a:t>, </a:t>
                </a:r>
                <a:r>
                  <a:rPr lang="en-ID" sz="2200" dirty="0" err="1"/>
                  <a:t>maka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disebut</a:t>
                </a:r>
                <a:r>
                  <a:rPr lang="en-ID" sz="2200" dirty="0"/>
                  <a:t> </a:t>
                </a:r>
                <a:r>
                  <a:rPr lang="en-ID" sz="2200" dirty="0" err="1"/>
                  <a:t>kondisi</a:t>
                </a:r>
                <a:r>
                  <a:rPr lang="en-ID" sz="2200" dirty="0"/>
                  <a:t> batas </a:t>
                </a:r>
                <a:r>
                  <a:rPr lang="en-ID" sz="2200" b="1" dirty="0"/>
                  <a:t>Neumann</a:t>
                </a:r>
                <a:r>
                  <a:rPr lang="en-ID" sz="2200" dirty="0"/>
                  <a:t>. Karena </a:t>
                </a:r>
                <a:r>
                  <a:rPr lang="en-ID" sz="2200" dirty="0" err="1"/>
                  <a:t>nilai</a:t>
                </a:r>
                <a:r>
                  <a:rPr lang="en-ID" sz="2200" dirty="0"/>
                  <a:t> </a:t>
                </a:r>
                <a:r>
                  <a:rPr lang="en-ID" sz="2200" dirty="0" err="1"/>
                  <a:t>turunan</a:t>
                </a:r>
                <a:r>
                  <a:rPr lang="en-ID" sz="2200" dirty="0"/>
                  <a:t> </a:t>
                </a:r>
                <a:r>
                  <a:rPr lang="en-ID" sz="2200" dirty="0" err="1"/>
                  <a:t>maka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secara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fisik</a:t>
                </a:r>
                <a:r>
                  <a:rPr lang="en-ID" sz="2200" dirty="0"/>
                  <a:t> </a:t>
                </a:r>
                <a:r>
                  <a:rPr lang="en-ID" sz="2200" dirty="0" err="1"/>
                  <a:t>adalah</a:t>
                </a:r>
                <a:r>
                  <a:rPr lang="en-ID" sz="2200" dirty="0"/>
                  <a:t> </a:t>
                </a:r>
                <a:r>
                  <a:rPr lang="en-ID" sz="2200" b="1" dirty="0" err="1"/>
                  <a:t>gradien</a:t>
                </a:r>
                <a:r>
                  <a:rPr lang="en-ID" sz="2200" dirty="0"/>
                  <a:t> </a:t>
                </a:r>
                <a:r>
                  <a:rPr lang="en-ID" sz="2200" dirty="0" err="1"/>
                  <a:t>atau</a:t>
                </a:r>
                <a:r>
                  <a:rPr lang="en-ID" sz="2200" dirty="0"/>
                  <a:t> </a:t>
                </a:r>
                <a:r>
                  <a:rPr lang="en-ID" sz="2200" b="1" dirty="0" err="1"/>
                  <a:t>fluks</a:t>
                </a:r>
                <a:r>
                  <a:rPr lang="en-ID" sz="2200" dirty="0"/>
                  <a:t> (</a:t>
                </a:r>
                <a:r>
                  <a:rPr lang="en-ID" sz="2200" dirty="0" err="1"/>
                  <a:t>laju</a:t>
                </a:r>
                <a:r>
                  <a:rPr lang="en-ID" sz="2200" dirty="0"/>
                  <a:t> </a:t>
                </a:r>
                <a:r>
                  <a:rPr lang="en-ID" sz="2200" dirty="0" err="1"/>
                  <a:t>aliran</a:t>
                </a:r>
                <a:r>
                  <a:rPr lang="en-ID" sz="2200" dirty="0"/>
                  <a:t>).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ID" sz="2200" b="1" dirty="0" err="1"/>
                  <a:t>CONTOH</a:t>
                </a:r>
                <a:r>
                  <a:rPr lang="en-ID" sz="2200" dirty="0"/>
                  <a:t>: </a:t>
                </a:r>
                <a:r>
                  <a:rPr lang="en-ID" sz="2200" dirty="0" err="1"/>
                  <a:t>Hantaran</a:t>
                </a:r>
                <a:r>
                  <a:rPr lang="en-ID" sz="2200" dirty="0"/>
                  <a:t> </a:t>
                </a:r>
                <a:r>
                  <a:rPr lang="en-ID" sz="2200" dirty="0" err="1"/>
                  <a:t>panas</a:t>
                </a:r>
                <a:r>
                  <a:rPr lang="en-ID" sz="2200" dirty="0"/>
                  <a:t> di </a:t>
                </a:r>
                <a:r>
                  <a:rPr lang="en-ID" sz="2200" dirty="0" err="1"/>
                  <a:t>permukaan</a:t>
                </a:r>
                <a:r>
                  <a:rPr lang="en-ID" sz="2200" dirty="0"/>
                  <a:t> </a:t>
                </a:r>
                <a:r>
                  <a:rPr lang="en-ID" sz="2200" dirty="0" err="1"/>
                  <a:t>benda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berupa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perubahan</a:t>
                </a:r>
                <a:r>
                  <a:rPr lang="en-ID" sz="2200" dirty="0"/>
                  <a:t> </a:t>
                </a:r>
                <a:r>
                  <a:rPr lang="en-ID" sz="2200" dirty="0" err="1"/>
                  <a:t>suhu</a:t>
                </a:r>
                <a:r>
                  <a:rPr lang="en-ID" sz="22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ID" sz="2200" dirty="0"/>
                  <a:t> yang </a:t>
                </a:r>
                <a:r>
                  <a:rPr lang="en-ID" sz="2200" dirty="0" err="1"/>
                  <a:t>bisa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masuk</a:t>
                </a:r>
                <a:r>
                  <a:rPr lang="en-ID" sz="2200" dirty="0"/>
                  <a:t> </a:t>
                </a:r>
                <a:r>
                  <a:rPr lang="en-ID" sz="2200" dirty="0" err="1"/>
                  <a:t>atau</a:t>
                </a:r>
                <a:r>
                  <a:rPr lang="en-ID" sz="2200" dirty="0"/>
                  <a:t> </a:t>
                </a:r>
                <a:r>
                  <a:rPr lang="en-ID" sz="2200" dirty="0" err="1"/>
                  <a:t>keluar</a:t>
                </a:r>
                <a:r>
                  <a:rPr lang="en-ID" sz="2200" dirty="0"/>
                  <a:t>. Jika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D" sz="2200" dirty="0" err="1"/>
                  <a:t>maka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permukaanya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terisolir</a:t>
                </a:r>
                <a:r>
                  <a:rPr lang="en-ID" sz="2200" dirty="0"/>
                  <a:t> (</a:t>
                </a:r>
                <a:r>
                  <a:rPr lang="en-ID" sz="2200" dirty="0" err="1"/>
                  <a:t>tidak</a:t>
                </a:r>
                <a:r>
                  <a:rPr lang="en-ID" sz="2200" dirty="0"/>
                  <a:t> </a:t>
                </a:r>
                <a:r>
                  <a:rPr lang="en-ID" sz="2200" dirty="0" err="1"/>
                  <a:t>ada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aliran</a:t>
                </a:r>
                <a:r>
                  <a:rPr lang="en-ID" sz="2200" dirty="0"/>
                  <a:t>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1F10AC-F183-778B-3F8D-68A0C633C0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292985"/>
                <a:ext cx="6680200" cy="3274695"/>
              </a:xfrm>
              <a:blipFill>
                <a:blip r:embed="rId2"/>
                <a:stretch>
                  <a:fillRect l="-1187" t="-1117" r="-1187" b="-298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9C1E6DD-0C72-F50F-639F-4869BEE9E76C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A0DA60-D1B2-C187-4870-A68932B876E7}"/>
                  </a:ext>
                </a:extLst>
              </p:cNvPr>
              <p:cNvSpPr txBox="1"/>
              <p:nvPr/>
            </p:nvSpPr>
            <p:spPr>
              <a:xfrm>
                <a:off x="9591040" y="2638028"/>
                <a:ext cx="511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ID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A0DA60-D1B2-C187-4870-A68932B87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1040" y="2638028"/>
                <a:ext cx="51193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0C6EF7-6EDE-3A1C-5AF7-F580D8296880}"/>
                  </a:ext>
                </a:extLst>
              </p:cNvPr>
              <p:cNvSpPr txBox="1"/>
              <p:nvPr/>
            </p:nvSpPr>
            <p:spPr>
              <a:xfrm>
                <a:off x="9636501" y="3582630"/>
                <a:ext cx="466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ID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0C6EF7-6EDE-3A1C-5AF7-F580D8296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6501" y="3582630"/>
                <a:ext cx="46647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8C72125-2A52-AB2C-DD90-2840FC885D3A}"/>
                  </a:ext>
                </a:extLst>
              </p:cNvPr>
              <p:cNvSpPr txBox="1"/>
              <p:nvPr/>
            </p:nvSpPr>
            <p:spPr>
              <a:xfrm>
                <a:off x="10332414" y="2453362"/>
                <a:ext cx="4188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ID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8C72125-2A52-AB2C-DD90-2840FC885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2414" y="2453362"/>
                <a:ext cx="41883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4743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D8A89-A149-DF16-86AF-3E4D1B00E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D5A3E-9102-52FE-D272-0C188C9D7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Kondisi</a:t>
            </a:r>
            <a:r>
              <a:rPr lang="en-ID" dirty="0"/>
              <a:t> Batas Cauchy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8C274E-D989-F12B-B606-EB7720EEA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292985"/>
                <a:ext cx="6734176" cy="3985895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ID" sz="2200" dirty="0"/>
                  <a:t>Jika </a:t>
                </a:r>
                <a:r>
                  <a:rPr lang="en-ID" sz="2200" dirty="0" err="1"/>
                  <a:t>nilai</a:t>
                </a:r>
                <a:r>
                  <a:rPr lang="en-ID" sz="2200" dirty="0"/>
                  <a:t> </a:t>
                </a:r>
                <a:r>
                  <a:rPr lang="en-ID" sz="2200" b="1" dirty="0" err="1"/>
                  <a:t>solusi</a:t>
                </a:r>
                <a:r>
                  <a:rPr lang="en-ID" sz="2200" dirty="0"/>
                  <a:t> dan </a:t>
                </a:r>
                <a:r>
                  <a:rPr lang="en-ID" sz="2200" b="1" dirty="0" err="1"/>
                  <a:t>turunannya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ditentukan</a:t>
                </a:r>
                <a:r>
                  <a:rPr lang="en-ID" sz="2200" dirty="0"/>
                  <a:t> pada batas </a:t>
                </a:r>
                <a:r>
                  <a:rPr lang="en-ID" sz="2200" dirty="0" err="1"/>
                  <a:t>tertutup</a:t>
                </a:r>
                <a:r>
                  <a:rPr lang="en-ID" sz="2200" dirty="0"/>
                  <a:t>, </a:t>
                </a:r>
                <a:r>
                  <a:rPr lang="en-ID" sz="2200" dirty="0" err="1"/>
                  <a:t>maka</a:t>
                </a:r>
                <a:r>
                  <a:rPr lang="en-ID" sz="2200" dirty="0"/>
                  <a:t> </a:t>
                </a:r>
                <a:r>
                  <a:rPr lang="en-ID" sz="2200" dirty="0" err="1"/>
                  <a:t>disebut</a:t>
                </a:r>
                <a:r>
                  <a:rPr lang="en-ID" sz="2200" dirty="0"/>
                  <a:t> </a:t>
                </a:r>
                <a:r>
                  <a:rPr lang="en-ID" sz="2200" dirty="0" err="1"/>
                  <a:t>kondisi</a:t>
                </a:r>
                <a:r>
                  <a:rPr lang="en-ID" sz="2200" dirty="0"/>
                  <a:t> </a:t>
                </a:r>
                <a:r>
                  <a:rPr lang="en-ID" sz="2200" b="1" dirty="0"/>
                  <a:t>batas </a:t>
                </a:r>
                <a:r>
                  <a:rPr lang="en-ID" sz="2200" b="1" dirty="0" err="1"/>
                  <a:t>campuran</a:t>
                </a:r>
                <a:r>
                  <a:rPr lang="en-ID" sz="2200" dirty="0"/>
                  <a:t> </a:t>
                </a:r>
                <a:r>
                  <a:rPr lang="en-ID" sz="2200" dirty="0" err="1"/>
                  <a:t>atau</a:t>
                </a:r>
                <a:r>
                  <a:rPr lang="en-ID" sz="2200" dirty="0"/>
                  <a:t> </a:t>
                </a:r>
                <a:r>
                  <a:rPr lang="en-ID" sz="2200" b="1" dirty="0"/>
                  <a:t>Cauchy</a:t>
                </a:r>
                <a:r>
                  <a:rPr lang="en-ID" sz="2200" dirty="0"/>
                  <a:t>.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ID" sz="2200" b="1" dirty="0" err="1"/>
                  <a:t>CONTOH</a:t>
                </a:r>
                <a:r>
                  <a:rPr lang="en-ID" sz="2200" dirty="0"/>
                  <a:t>: </a:t>
                </a:r>
                <a:r>
                  <a:rPr lang="en-ID" sz="2200" dirty="0" err="1"/>
                  <a:t>Sebuah</a:t>
                </a:r>
                <a:r>
                  <a:rPr lang="en-ID" sz="2200" dirty="0"/>
                  <a:t> </a:t>
                </a:r>
                <a:r>
                  <a:rPr lang="en-ID" sz="2200" dirty="0" err="1"/>
                  <a:t>pelat</a:t>
                </a:r>
                <a:r>
                  <a:rPr lang="en-ID" sz="2200" dirty="0"/>
                  <a:t> </a:t>
                </a:r>
                <a:r>
                  <a:rPr lang="en-ID" sz="2200" dirty="0" err="1"/>
                  <a:t>dimana</a:t>
                </a:r>
                <a:r>
                  <a:rPr lang="en-ID" sz="2200" dirty="0"/>
                  <a:t> pada </a:t>
                </a:r>
                <a:r>
                  <a:rPr lang="en-ID" sz="2200" dirty="0" err="1"/>
                  <a:t>posisi</a:t>
                </a:r>
                <a:r>
                  <a:rPr lang="en-ID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D" sz="2200" dirty="0"/>
                  <a:t> </a:t>
                </a:r>
                <a:r>
                  <a:rPr lang="en-ID" sz="2200" dirty="0" err="1"/>
                  <a:t>dipertahankan</a:t>
                </a:r>
                <a:r>
                  <a:rPr lang="en-ID" sz="2200" dirty="0"/>
                  <a:t> pada </a:t>
                </a:r>
                <a:r>
                  <a:rPr lang="en-ID" sz="2200" dirty="0" err="1"/>
                  <a:t>suhu</a:t>
                </a:r>
                <a:r>
                  <a:rPr lang="en-ID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D" sz="2200" dirty="0"/>
                  <a:t> (</a:t>
                </a:r>
                <a:r>
                  <a:rPr lang="en-ID" sz="2200" dirty="0" err="1"/>
                  <a:t>syarat</a:t>
                </a:r>
                <a:r>
                  <a:rPr lang="en-ID" sz="2200" dirty="0"/>
                  <a:t> batas Dirichlet). Pada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 err="1"/>
                  <a:t>syarat</a:t>
                </a:r>
                <a:r>
                  <a:rPr lang="en-US" sz="2200" dirty="0"/>
                  <a:t> </a:t>
                </a:r>
                <a:r>
                  <a:rPr lang="en-US" sz="2200" dirty="0" err="1"/>
                  <a:t>batasnya</a:t>
                </a:r>
                <a:r>
                  <a:rPr lang="en-US" sz="2200" dirty="0"/>
                  <a:t> </a:t>
                </a:r>
                <a:r>
                  <a:rPr lang="en-US" sz="2200" dirty="0" err="1"/>
                  <a:t>adalah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D" sz="2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ID" sz="2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D" sz="22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200" dirty="0"/>
                  <a:t> (merupakan </a:t>
                </a:r>
                <a:r>
                  <a:rPr lang="en-US" sz="2200" dirty="0" err="1"/>
                  <a:t>syarat</a:t>
                </a:r>
                <a:r>
                  <a:rPr lang="en-US" sz="2200" dirty="0"/>
                  <a:t> batas Neumann).</a:t>
                </a:r>
              </a:p>
              <a:p>
                <a:pPr algn="just">
                  <a:lnSpc>
                    <a:spcPct val="100000"/>
                  </a:lnSpc>
                </a:pPr>
                <a:endParaRPr lang="en-ID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8C274E-D989-F12B-B606-EB7720EEA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292985"/>
                <a:ext cx="6734176" cy="3985895"/>
              </a:xfrm>
              <a:blipFill>
                <a:blip r:embed="rId2"/>
                <a:stretch>
                  <a:fillRect l="-1178" t="-917" r="-108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4E33556-A36E-DEB3-48C6-1EB48E4CFBAA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F3CE2D-DAB4-20EA-F1D2-7DCB2095ADF8}"/>
              </a:ext>
            </a:extLst>
          </p:cNvPr>
          <p:cNvSpPr/>
          <p:nvPr/>
        </p:nvSpPr>
        <p:spPr>
          <a:xfrm>
            <a:off x="8209280" y="3007360"/>
            <a:ext cx="3190240" cy="1519873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68000">
                <a:srgbClr val="FF0000"/>
              </a:gs>
              <a:gs pos="100000">
                <a:srgbClr val="FF0066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79F408-5B01-BBCE-F581-1BEE1FC675F9}"/>
                  </a:ext>
                </a:extLst>
              </p:cNvPr>
              <p:cNvSpPr txBox="1"/>
              <p:nvPr/>
            </p:nvSpPr>
            <p:spPr>
              <a:xfrm>
                <a:off x="7757746" y="3582630"/>
                <a:ext cx="4515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D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79F408-5B01-BBCE-F581-1BEE1FC67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7746" y="3582630"/>
                <a:ext cx="45153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FCD2CB-FFDC-736A-E32C-62846BFBF614}"/>
                  </a:ext>
                </a:extLst>
              </p:cNvPr>
              <p:cNvSpPr txBox="1"/>
              <p:nvPr/>
            </p:nvSpPr>
            <p:spPr>
              <a:xfrm>
                <a:off x="11399520" y="3458805"/>
                <a:ext cx="502317" cy="6190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D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D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ID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ID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ID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FCD2CB-FFDC-736A-E32C-62846BFBF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9520" y="3458805"/>
                <a:ext cx="502317" cy="6190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FFBBDB8-914C-BE73-B735-51D29A74497F}"/>
                  </a:ext>
                </a:extLst>
              </p:cNvPr>
              <p:cNvSpPr txBox="1"/>
              <p:nvPr/>
            </p:nvSpPr>
            <p:spPr>
              <a:xfrm>
                <a:off x="7794942" y="4527232"/>
                <a:ext cx="8286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FFBBDB8-914C-BE73-B735-51D29A744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4942" y="4527232"/>
                <a:ext cx="8286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E78BA06-1BC8-E2DE-7645-AD16E3A42759}"/>
                  </a:ext>
                </a:extLst>
              </p:cNvPr>
              <p:cNvSpPr txBox="1"/>
              <p:nvPr/>
            </p:nvSpPr>
            <p:spPr>
              <a:xfrm>
                <a:off x="10985183" y="4527232"/>
                <a:ext cx="8286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E78BA06-1BC8-E2DE-7645-AD16E3A42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5183" y="4527232"/>
                <a:ext cx="82867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963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CE27E-5A15-1398-662C-3F3949F27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70723-3BB4-B4A1-BA51-2B7F5FB95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Hantaran</a:t>
            </a:r>
            <a:r>
              <a:rPr lang="en-US" dirty="0"/>
              <a:t> Panas 2D </a:t>
            </a:r>
            <a:r>
              <a:rPr lang="en-US" dirty="0" err="1"/>
              <a:t>Tunak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B27ECC-1FCF-AE53-70BF-E2DEA96C8215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B9548EF-FBA0-7E89-296E-11ED0C34A8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2292985"/>
                <a:ext cx="6667167" cy="39858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en-US"/>
                  <a:t>Contoh </a:t>
                </a:r>
                <a:r>
                  <a:rPr lang="en-US" dirty="0" err="1"/>
                  <a:t>komputasi</a:t>
                </a:r>
                <a:r>
                  <a:rPr lang="en-US" dirty="0"/>
                  <a:t> </a:t>
                </a:r>
                <a:r>
                  <a:rPr lang="en-US" dirty="0" err="1"/>
                  <a:t>hantaran</a:t>
                </a:r>
                <a:r>
                  <a:rPr lang="en-US" dirty="0"/>
                  <a:t> </a:t>
                </a:r>
                <a:r>
                  <a:rPr lang="en-US" dirty="0" err="1"/>
                  <a:t>panas</a:t>
                </a:r>
                <a:r>
                  <a:rPr lang="en-US" dirty="0"/>
                  <a:t> </a:t>
                </a:r>
                <a:r>
                  <a:rPr lang="en-US"/>
                  <a:t>2D dalam keadaan tunak dengan </a:t>
                </a:r>
                <a:r>
                  <a:rPr lang="en-US" dirty="0" err="1"/>
                  <a:t>syarat</a:t>
                </a:r>
                <a:r>
                  <a:rPr lang="en-US" dirty="0"/>
                  <a:t> batas Dirichlet. Domain </a:t>
                </a:r>
                <a:r>
                  <a:rPr lang="en-US" dirty="0" err="1"/>
                  <a:t>persegi</a:t>
                </a:r>
                <a:r>
                  <a:rPr lang="en-US" dirty="0"/>
                  <a:t>: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],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/>
                  <a:t> dengan persamaan:</a:t>
                </a:r>
                <a:br>
                  <a:rPr lang="en-US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D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D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D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ID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D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ID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D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D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D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ID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D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D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D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dirty="0"/>
                  <a:t>: </a:t>
                </a:r>
                <a:r>
                  <a:rPr lang="es-ES" dirty="0" err="1"/>
                  <a:t>suhu</a:t>
                </a:r>
                <a:r>
                  <a:rPr lang="es-ES" dirty="0"/>
                  <a:t> pada </a:t>
                </a:r>
                <a:r>
                  <a:rPr lang="es-ES" dirty="0" err="1"/>
                  <a:t>titik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dirty="0"/>
                  <a:t>.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"/>
                  <a:t>Syarat batas:</a:t>
                </a:r>
                <a:br>
                  <a:rPr lang="es-ES" dirty="0"/>
                </a:b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𝑏𝑎𝑤𝑎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𝑎𝑡𝑎𝑠</m:t>
                        </m:r>
                      </m:sub>
                    </m:sSub>
                  </m:oMath>
                </a14:m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𝑘𝑖𝑟𝑖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𝑘𝑎𝑛𝑎𝑛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B9548EF-FBA0-7E89-296E-11ED0C34A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2292985"/>
                <a:ext cx="6667167" cy="3985895"/>
              </a:xfrm>
              <a:prstGeom prst="rect">
                <a:avLst/>
              </a:prstGeom>
              <a:blipFill>
                <a:blip r:embed="rId2"/>
                <a:stretch>
                  <a:fillRect l="-1005" t="-91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FA8FE44-D155-0D82-E4D2-2E2CDC3FCB75}"/>
                  </a:ext>
                </a:extLst>
              </p:cNvPr>
              <p:cNvSpPr txBox="1"/>
              <p:nvPr/>
            </p:nvSpPr>
            <p:spPr>
              <a:xfrm>
                <a:off x="10855509" y="3901998"/>
                <a:ext cx="12871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𝑘𝑎𝑛𝑎𝑛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FA8FE44-D155-0D82-E4D2-2E2CDC3FC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5509" y="3901998"/>
                <a:ext cx="128714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EFB9BC03-ED83-6F98-3414-78BFDB373FC8}"/>
              </a:ext>
            </a:extLst>
          </p:cNvPr>
          <p:cNvSpPr>
            <a:spLocks noChangeAspect="1"/>
          </p:cNvSpPr>
          <p:nvPr/>
        </p:nvSpPr>
        <p:spPr>
          <a:xfrm>
            <a:off x="8536227" y="2863771"/>
            <a:ext cx="2529802" cy="2529802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68000">
                <a:srgbClr val="FF0000"/>
              </a:gs>
              <a:gs pos="100000">
                <a:srgbClr val="FF0066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EF6920-27F4-91FC-5D69-AA66AF7265BA}"/>
                  </a:ext>
                </a:extLst>
              </p:cNvPr>
              <p:cNvSpPr txBox="1"/>
              <p:nvPr/>
            </p:nvSpPr>
            <p:spPr>
              <a:xfrm>
                <a:off x="7967996" y="5474454"/>
                <a:ext cx="8286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EF6920-27F4-91FC-5D69-AA66AF726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7996" y="5474454"/>
                <a:ext cx="82867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A3F64FD-37EA-FF7C-4044-255FD8B43303}"/>
                  </a:ext>
                </a:extLst>
              </p:cNvPr>
              <p:cNvSpPr txBox="1"/>
              <p:nvPr/>
            </p:nvSpPr>
            <p:spPr>
              <a:xfrm>
                <a:off x="10670413" y="5474454"/>
                <a:ext cx="8286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A3F64FD-37EA-FF7C-4044-255FD8B43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0413" y="5474454"/>
                <a:ext cx="8286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DCB04C-2A6F-A8F8-9E95-D745D08CE27E}"/>
                  </a:ext>
                </a:extLst>
              </p:cNvPr>
              <p:cNvSpPr txBox="1"/>
              <p:nvPr/>
            </p:nvSpPr>
            <p:spPr>
              <a:xfrm>
                <a:off x="7751494" y="5187156"/>
                <a:ext cx="8286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DCB04C-2A6F-A8F8-9E95-D745D08CE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1494" y="5187156"/>
                <a:ext cx="828675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DD439F-F698-0B21-A640-2E6A8E65BE2C}"/>
                  </a:ext>
                </a:extLst>
              </p:cNvPr>
              <p:cNvSpPr txBox="1"/>
              <p:nvPr/>
            </p:nvSpPr>
            <p:spPr>
              <a:xfrm>
                <a:off x="7752130" y="2698875"/>
                <a:ext cx="8286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DD439F-F698-0B21-A640-2E6A8E65B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2130" y="2698875"/>
                <a:ext cx="828675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6ED99451-10D7-37A4-81F1-6AA7363D2615}"/>
              </a:ext>
            </a:extLst>
          </p:cNvPr>
          <p:cNvSpPr/>
          <p:nvPr/>
        </p:nvSpPr>
        <p:spPr>
          <a:xfrm>
            <a:off x="9538786" y="4525041"/>
            <a:ext cx="57150" cy="5715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557FE6-5AE2-ED23-BFDB-D37EAB182F0B}"/>
                  </a:ext>
                </a:extLst>
              </p:cNvPr>
              <p:cNvSpPr txBox="1"/>
              <p:nvPr/>
            </p:nvSpPr>
            <p:spPr>
              <a:xfrm>
                <a:off x="8695823" y="4132611"/>
                <a:ext cx="17430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557FE6-5AE2-ED23-BFDB-D37EAB182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5823" y="4132611"/>
                <a:ext cx="1743075" cy="369332"/>
              </a:xfrm>
              <a:prstGeom prst="rect">
                <a:avLst/>
              </a:prstGeom>
              <a:blipFill>
                <a:blip r:embed="rId8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4C181A-586D-0A16-C4BA-7292F30FAC46}"/>
                  </a:ext>
                </a:extLst>
              </p:cNvPr>
              <p:cNvSpPr txBox="1"/>
              <p:nvPr/>
            </p:nvSpPr>
            <p:spPr>
              <a:xfrm>
                <a:off x="9077657" y="5393928"/>
                <a:ext cx="12871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𝑏𝑎𝑤𝑎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4C181A-586D-0A16-C4BA-7292F30FA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657" y="5393928"/>
                <a:ext cx="128714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265D0D-F80B-66C8-8CC4-35515D109D42}"/>
                  </a:ext>
                </a:extLst>
              </p:cNvPr>
              <p:cNvSpPr txBox="1"/>
              <p:nvPr/>
            </p:nvSpPr>
            <p:spPr>
              <a:xfrm>
                <a:off x="7610925" y="3901998"/>
                <a:ext cx="12871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𝑘𝑖𝑟𝑖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265D0D-F80B-66C8-8CC4-35515D109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0925" y="3901998"/>
                <a:ext cx="128714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8CACFAB-CA65-293B-41C7-28D3EF36DF9C}"/>
                  </a:ext>
                </a:extLst>
              </p:cNvPr>
              <p:cNvSpPr txBox="1"/>
              <p:nvPr/>
            </p:nvSpPr>
            <p:spPr>
              <a:xfrm>
                <a:off x="9157555" y="2494439"/>
                <a:ext cx="12871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𝑎𝑡𝑎𝑠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8CACFAB-CA65-293B-41C7-28D3EF36DF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7555" y="2494439"/>
                <a:ext cx="128714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8763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67BB5-8B60-7094-48F2-1672DB9A7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5BAC2-162E-63CC-BE0C-803A1A89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Hantaran</a:t>
            </a:r>
            <a:r>
              <a:rPr lang="en-US" dirty="0"/>
              <a:t> Panas 2D </a:t>
            </a:r>
            <a:r>
              <a:rPr lang="en-US" dirty="0" err="1"/>
              <a:t>Tunak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0D4D58-343D-61A3-8048-B3FC4BFFE1E7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E5136C1-04AE-CF99-DCA7-E4557C791939}"/>
              </a:ext>
            </a:extLst>
          </p:cNvPr>
          <p:cNvSpPr txBox="1">
            <a:spLocks/>
          </p:cNvSpPr>
          <p:nvPr/>
        </p:nvSpPr>
        <p:spPr>
          <a:xfrm>
            <a:off x="838199" y="2292985"/>
            <a:ext cx="6667167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A758D85-62C0-9619-A56B-62CB8ACCE598}"/>
                  </a:ext>
                </a:extLst>
              </p:cNvPr>
              <p:cNvSpPr txBox="1"/>
              <p:nvPr/>
            </p:nvSpPr>
            <p:spPr>
              <a:xfrm>
                <a:off x="8014169" y="5474454"/>
                <a:ext cx="8286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A758D85-62C0-9619-A56B-62CB8ACCE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169" y="5474454"/>
                <a:ext cx="82867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BBB80EA-A42A-121C-1548-9353A4F3FE4B}"/>
                  </a:ext>
                </a:extLst>
              </p:cNvPr>
              <p:cNvSpPr txBox="1"/>
              <p:nvPr/>
            </p:nvSpPr>
            <p:spPr>
              <a:xfrm>
                <a:off x="10258117" y="5474454"/>
                <a:ext cx="15499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BBB80EA-A42A-121C-1548-9353A4F3F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8117" y="5474454"/>
                <a:ext cx="154992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833D39D-4979-8751-536A-984233ACCEBE}"/>
                  </a:ext>
                </a:extLst>
              </p:cNvPr>
              <p:cNvSpPr txBox="1"/>
              <p:nvPr/>
            </p:nvSpPr>
            <p:spPr>
              <a:xfrm>
                <a:off x="9203728" y="2423319"/>
                <a:ext cx="1287145" cy="429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833D39D-4979-8751-536A-984233ACC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3728" y="2423319"/>
                <a:ext cx="1287145" cy="4299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812433C-4E00-AF80-61AD-3AE591C487E3}"/>
                  </a:ext>
                </a:extLst>
              </p:cNvPr>
              <p:cNvSpPr txBox="1"/>
              <p:nvPr/>
            </p:nvSpPr>
            <p:spPr>
              <a:xfrm>
                <a:off x="11040326" y="3901998"/>
                <a:ext cx="705407" cy="440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</m:sSubSup>
                    </m:oMath>
                  </m:oMathPara>
                </a14:m>
                <a:endParaRPr lang="en-ID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812433C-4E00-AF80-61AD-3AE591C48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0326" y="3901998"/>
                <a:ext cx="705407" cy="440120"/>
              </a:xfrm>
              <a:prstGeom prst="rect">
                <a:avLst/>
              </a:prstGeom>
              <a:blipFill>
                <a:blip r:embed="rId5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AA59552-1094-A8FA-4C38-16E5B537CA1C}"/>
                  </a:ext>
                </a:extLst>
              </p:cNvPr>
              <p:cNvSpPr txBox="1"/>
              <p:nvPr/>
            </p:nvSpPr>
            <p:spPr>
              <a:xfrm>
                <a:off x="9174630" y="5393928"/>
                <a:ext cx="1287145" cy="429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/>
                      </m:sSubSup>
                    </m:oMath>
                  </m:oMathPara>
                </a14:m>
                <a:endParaRPr lang="en-ID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AA59552-1094-A8FA-4C38-16E5B537C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4630" y="5393928"/>
                <a:ext cx="1287145" cy="4299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1B96714-D71C-1B60-C3CF-92F1BF53B31B}"/>
                  </a:ext>
                </a:extLst>
              </p:cNvPr>
              <p:cNvSpPr txBox="1"/>
              <p:nvPr/>
            </p:nvSpPr>
            <p:spPr>
              <a:xfrm>
                <a:off x="7769959" y="5187156"/>
                <a:ext cx="8286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1B96714-D71C-1B60-C3CF-92F1BF53B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9959" y="5187156"/>
                <a:ext cx="828675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D3BA60F-FF96-0913-A738-87C10E69CDAD}"/>
                  </a:ext>
                </a:extLst>
              </p:cNvPr>
              <p:cNvSpPr txBox="1"/>
              <p:nvPr/>
            </p:nvSpPr>
            <p:spPr>
              <a:xfrm>
                <a:off x="7084283" y="2698875"/>
                <a:ext cx="15149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 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D3BA60F-FF96-0913-A738-87C10E69C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4283" y="2698875"/>
                <a:ext cx="1514987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1BA559A-12D8-FA2D-9AEB-280443AFB1F8}"/>
                  </a:ext>
                </a:extLst>
              </p:cNvPr>
              <p:cNvSpPr txBox="1"/>
              <p:nvPr/>
            </p:nvSpPr>
            <p:spPr>
              <a:xfrm>
                <a:off x="7647862" y="3901998"/>
                <a:ext cx="1287145" cy="440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</m:sSubSup>
                    </m:oMath>
                  </m:oMathPara>
                </a14:m>
                <a:endParaRPr lang="en-ID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1BA559A-12D8-FA2D-9AEB-280443AFB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7862" y="3901998"/>
                <a:ext cx="1287145" cy="440120"/>
              </a:xfrm>
              <a:prstGeom prst="rect">
                <a:avLst/>
              </a:prstGeom>
              <a:blipFill>
                <a:blip r:embed="rId9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2A9EF014-B865-CEC6-2A54-8A93B29E27E6}"/>
              </a:ext>
            </a:extLst>
          </p:cNvPr>
          <p:cNvSpPr>
            <a:spLocks noChangeAspect="1"/>
          </p:cNvSpPr>
          <p:nvPr/>
        </p:nvSpPr>
        <p:spPr>
          <a:xfrm>
            <a:off x="8582400" y="2863771"/>
            <a:ext cx="2529802" cy="2529802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68000">
                <a:srgbClr val="FF0000"/>
              </a:gs>
              <a:gs pos="100000">
                <a:srgbClr val="FF0066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F11018D8-DF22-06D5-1B29-8813B39E5F8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600" y="2445385"/>
                <a:ext cx="5907486" cy="39858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200" b="1"/>
                  <a:t>Diskritisasi</a:t>
                </a:r>
                <a:r>
                  <a:rPr lang="en-US" sz="2200"/>
                  <a:t>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200"/>
                  <a:t>Domain dibagi menjadi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/>
                  <a:t>titik. Berarti ada indeks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.. 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/>
                  <a:t> titik.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200"/>
                  <a:t>Simbol diskritisasi numerik adalah 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/>
                  <a:t>untuk koordinat 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/>
                  <a:t>. </a:t>
                </a:r>
                <a:endParaRPr lang="en-US" sz="2200" b="0" i="1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2200"/>
                  <a:t>Sehingga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/>
                    </m:sSubSup>
                  </m:oMath>
                </a14:m>
                <a:r>
                  <a:rPr lang="en-US" sz="2200"/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sz="2200"/>
                  <a:t>Syarat batas:</a:t>
                </a:r>
                <a:endParaRPr lang="en-US" sz="220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𝑏𝑎𝑤𝑎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𝑎𝑡𝑎𝑠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𝑘𝑖𝑟𝑖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𝑘𝑎𝑛𝑎𝑛</m:t>
                          </m:r>
                        </m:sub>
                      </m:sSub>
                    </m:oMath>
                  </m:oMathPara>
                </a14:m>
                <a:endParaRPr lang="en-US" sz="220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F11018D8-DF22-06D5-1B29-8813B39E5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445385"/>
                <a:ext cx="5907486" cy="3985895"/>
              </a:xfrm>
              <a:prstGeom prst="rect">
                <a:avLst/>
              </a:prstGeom>
              <a:blipFill>
                <a:blip r:embed="rId10"/>
                <a:stretch>
                  <a:fillRect l="-1342" t="-91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367538A-ED44-5203-9134-57FFCAA546B8}"/>
                  </a:ext>
                </a:extLst>
              </p:cNvPr>
              <p:cNvSpPr txBox="1"/>
              <p:nvPr/>
            </p:nvSpPr>
            <p:spPr>
              <a:xfrm>
                <a:off x="11423317" y="2880432"/>
                <a:ext cx="491577" cy="440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</m:sSubSup>
                    </m:oMath>
                  </m:oMathPara>
                </a14:m>
                <a:endParaRPr lang="en-ID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367538A-ED44-5203-9134-57FFCAA54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3317" y="2880432"/>
                <a:ext cx="491577" cy="440120"/>
              </a:xfrm>
              <a:prstGeom prst="rect">
                <a:avLst/>
              </a:prstGeom>
              <a:blipFill>
                <a:blip r:embed="rId11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4D1FC92-A6B0-2092-8909-7D006B3F6962}"/>
              </a:ext>
            </a:extLst>
          </p:cNvPr>
          <p:cNvCxnSpPr>
            <a:cxnSpLocks/>
          </p:cNvCxnSpPr>
          <p:nvPr/>
        </p:nvCxnSpPr>
        <p:spPr>
          <a:xfrm flipV="1">
            <a:off x="10490873" y="3105807"/>
            <a:ext cx="992547" cy="40164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1ABD35C6-C72B-873E-11A6-DAA93516277F}"/>
              </a:ext>
            </a:extLst>
          </p:cNvPr>
          <p:cNvSpPr/>
          <p:nvPr/>
        </p:nvSpPr>
        <p:spPr>
          <a:xfrm>
            <a:off x="10342838" y="3359994"/>
            <a:ext cx="257114" cy="257114"/>
          </a:xfrm>
          <a:prstGeom prst="flowChartConnector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C9CC68-9323-3287-A34F-22206F930B66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99283" y="2686648"/>
            <a:ext cx="289195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195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C5086-F959-DC45-2222-8DE56FA5E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FB631-C7AE-E767-F03A-5F7543142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Hantaran</a:t>
            </a:r>
            <a:r>
              <a:rPr lang="en-US" dirty="0"/>
              <a:t> Panas 2D </a:t>
            </a:r>
            <a:r>
              <a:rPr lang="en-US" dirty="0" err="1"/>
              <a:t>Tunak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9DDC66-1F5A-1209-B2FE-259E965DD6BA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2A17767-545C-E8CE-2467-23B7421001BE}"/>
              </a:ext>
            </a:extLst>
          </p:cNvPr>
          <p:cNvSpPr txBox="1">
            <a:spLocks/>
          </p:cNvSpPr>
          <p:nvPr/>
        </p:nvSpPr>
        <p:spPr>
          <a:xfrm>
            <a:off x="838199" y="2292985"/>
            <a:ext cx="6667167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69569E1-12DC-B434-A9D1-50A4A7423C66}"/>
                  </a:ext>
                </a:extLst>
              </p:cNvPr>
              <p:cNvSpPr txBox="1"/>
              <p:nvPr/>
            </p:nvSpPr>
            <p:spPr>
              <a:xfrm>
                <a:off x="8014169" y="5474454"/>
                <a:ext cx="8286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69569E1-12DC-B434-A9D1-50A4A7423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169" y="5474454"/>
                <a:ext cx="82867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B285DF5-C24D-1426-254A-464BD6116941}"/>
                  </a:ext>
                </a:extLst>
              </p:cNvPr>
              <p:cNvSpPr txBox="1"/>
              <p:nvPr/>
            </p:nvSpPr>
            <p:spPr>
              <a:xfrm>
                <a:off x="10258117" y="5474454"/>
                <a:ext cx="15499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B285DF5-C24D-1426-254A-464BD6116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8117" y="5474454"/>
                <a:ext cx="154992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2E99EE4-BB70-D97A-C268-AA795284EB09}"/>
                  </a:ext>
                </a:extLst>
              </p:cNvPr>
              <p:cNvSpPr txBox="1"/>
              <p:nvPr/>
            </p:nvSpPr>
            <p:spPr>
              <a:xfrm>
                <a:off x="9203728" y="2423319"/>
                <a:ext cx="1287145" cy="429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2E99EE4-BB70-D97A-C268-AA795284E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3728" y="2423319"/>
                <a:ext cx="1287145" cy="4299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20C4639-30F6-CE01-271E-4282F65A105F}"/>
                  </a:ext>
                </a:extLst>
              </p:cNvPr>
              <p:cNvSpPr txBox="1"/>
              <p:nvPr/>
            </p:nvSpPr>
            <p:spPr>
              <a:xfrm>
                <a:off x="11040326" y="3901998"/>
                <a:ext cx="705407" cy="440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</m:sSubSup>
                    </m:oMath>
                  </m:oMathPara>
                </a14:m>
                <a:endParaRPr lang="en-ID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20C4639-30F6-CE01-271E-4282F65A1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0326" y="3901998"/>
                <a:ext cx="705407" cy="440120"/>
              </a:xfrm>
              <a:prstGeom prst="rect">
                <a:avLst/>
              </a:prstGeom>
              <a:blipFill>
                <a:blip r:embed="rId5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4961FBC-013A-26D2-77F4-EB3F3498E3EF}"/>
                  </a:ext>
                </a:extLst>
              </p:cNvPr>
              <p:cNvSpPr txBox="1"/>
              <p:nvPr/>
            </p:nvSpPr>
            <p:spPr>
              <a:xfrm>
                <a:off x="9174630" y="5393928"/>
                <a:ext cx="1287145" cy="429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/>
                      </m:sSubSup>
                    </m:oMath>
                  </m:oMathPara>
                </a14:m>
                <a:endParaRPr lang="en-ID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4961FBC-013A-26D2-77F4-EB3F3498E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4630" y="5393928"/>
                <a:ext cx="1287145" cy="4299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5DDE1A-DFE2-A272-8225-388E18F11BE2}"/>
                  </a:ext>
                </a:extLst>
              </p:cNvPr>
              <p:cNvSpPr txBox="1"/>
              <p:nvPr/>
            </p:nvSpPr>
            <p:spPr>
              <a:xfrm>
                <a:off x="7769959" y="5187156"/>
                <a:ext cx="8286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5DDE1A-DFE2-A272-8225-388E18F11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9959" y="5187156"/>
                <a:ext cx="828675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FC68FBE-DD6C-42C1-EB01-6BFC70E7AC85}"/>
                  </a:ext>
                </a:extLst>
              </p:cNvPr>
              <p:cNvSpPr txBox="1"/>
              <p:nvPr/>
            </p:nvSpPr>
            <p:spPr>
              <a:xfrm>
                <a:off x="7084283" y="2698875"/>
                <a:ext cx="15149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 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FC68FBE-DD6C-42C1-EB01-6BFC70E7A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4283" y="2698875"/>
                <a:ext cx="1514987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0AEA935-4B03-AD41-8101-67CCE0C65DFB}"/>
                  </a:ext>
                </a:extLst>
              </p:cNvPr>
              <p:cNvSpPr txBox="1"/>
              <p:nvPr/>
            </p:nvSpPr>
            <p:spPr>
              <a:xfrm>
                <a:off x="7647862" y="3901998"/>
                <a:ext cx="1287145" cy="440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</m:sSubSup>
                    </m:oMath>
                  </m:oMathPara>
                </a14:m>
                <a:endParaRPr lang="en-ID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0AEA935-4B03-AD41-8101-67CCE0C65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7862" y="3901998"/>
                <a:ext cx="1287145" cy="440120"/>
              </a:xfrm>
              <a:prstGeom prst="rect">
                <a:avLst/>
              </a:prstGeom>
              <a:blipFill>
                <a:blip r:embed="rId9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61B755A1-58D6-6B67-28C2-8EEBB89D135A}"/>
              </a:ext>
            </a:extLst>
          </p:cNvPr>
          <p:cNvSpPr>
            <a:spLocks noChangeAspect="1"/>
          </p:cNvSpPr>
          <p:nvPr/>
        </p:nvSpPr>
        <p:spPr>
          <a:xfrm>
            <a:off x="8582400" y="2863771"/>
            <a:ext cx="2529802" cy="2529802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68000">
                <a:srgbClr val="FF0000"/>
              </a:gs>
              <a:gs pos="100000">
                <a:srgbClr val="FF0066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E2406CD9-77EB-F2C4-E23A-8B4AE2EF03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600" y="2445385"/>
                <a:ext cx="5907486" cy="39858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200" b="1" dirty="0" err="1"/>
                  <a:t>Diskritisasi</a:t>
                </a:r>
                <a:r>
                  <a:rPr lang="en-US" sz="2200" dirty="0"/>
                  <a:t>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200" dirty="0" err="1"/>
                  <a:t>Untuk</a:t>
                </a:r>
                <a:r>
                  <a:rPr lang="en-US" sz="2200" dirty="0"/>
                  <a:t> </a:t>
                </a:r>
                <a:r>
                  <a:rPr lang="en-US" sz="2200" dirty="0" err="1"/>
                  <a:t>syarat</a:t>
                </a:r>
                <a:r>
                  <a:rPr lang="en-US" sz="2200" dirty="0"/>
                  <a:t> batas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𝑏𝑎𝑤𝑎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2200" dirty="0"/>
                  <a:t> untuk titik yang </a:t>
                </a:r>
                <a:r>
                  <a:rPr lang="en-US" sz="2200" dirty="0" err="1"/>
                  <a:t>dilingkari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hijau</a:t>
                </a:r>
                <a:r>
                  <a:rPr lang="en-US" sz="2200" dirty="0"/>
                  <a:t>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𝑏𝑎𝑤𝑎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  <a:p>
                <a:pPr>
                  <a:lnSpc>
                    <a:spcPct val="100000"/>
                  </a:lnSpc>
                </a:pPr>
                <a:endParaRPr lang="en-US" sz="22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200" dirty="0"/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E2406CD9-77EB-F2C4-E23A-8B4AE2EF0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445385"/>
                <a:ext cx="5907486" cy="3985895"/>
              </a:xfrm>
              <a:prstGeom prst="rect">
                <a:avLst/>
              </a:prstGeom>
              <a:blipFill>
                <a:blip r:embed="rId10"/>
                <a:stretch>
                  <a:fillRect l="-1342" t="-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A4EE66C-B71E-1E81-EF2B-F4FAD3092833}"/>
                  </a:ext>
                </a:extLst>
              </p:cNvPr>
              <p:cNvSpPr txBox="1"/>
              <p:nvPr/>
            </p:nvSpPr>
            <p:spPr>
              <a:xfrm>
                <a:off x="11423317" y="2880432"/>
                <a:ext cx="491577" cy="440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</m:sSubSup>
                    </m:oMath>
                  </m:oMathPara>
                </a14:m>
                <a:endParaRPr lang="en-ID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A4EE66C-B71E-1E81-EF2B-F4FAD3092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3317" y="2880432"/>
                <a:ext cx="491577" cy="440120"/>
              </a:xfrm>
              <a:prstGeom prst="rect">
                <a:avLst/>
              </a:prstGeom>
              <a:blipFill>
                <a:blip r:embed="rId11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A5756E8-7A6C-6F3E-C164-9FB4AD1F78D2}"/>
              </a:ext>
            </a:extLst>
          </p:cNvPr>
          <p:cNvCxnSpPr>
            <a:cxnSpLocks/>
          </p:cNvCxnSpPr>
          <p:nvPr/>
        </p:nvCxnSpPr>
        <p:spPr>
          <a:xfrm flipV="1">
            <a:off x="10490873" y="3105807"/>
            <a:ext cx="992547" cy="40164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400EF3B3-9B0A-AEAE-F4BC-943A92CFD72E}"/>
              </a:ext>
            </a:extLst>
          </p:cNvPr>
          <p:cNvSpPr/>
          <p:nvPr/>
        </p:nvSpPr>
        <p:spPr>
          <a:xfrm>
            <a:off x="10342838" y="3359994"/>
            <a:ext cx="257114" cy="257114"/>
          </a:xfrm>
          <a:prstGeom prst="flowChartConnector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AB9313-698D-2812-C2C9-BC223B469408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99283" y="2686648"/>
            <a:ext cx="2891950" cy="2880000"/>
          </a:xfrm>
          <a:prstGeom prst="rect">
            <a:avLst/>
          </a:prstGeom>
        </p:spPr>
      </p:pic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B6AE9DE3-9AD2-BD92-5924-E776A973662B}"/>
              </a:ext>
            </a:extLst>
          </p:cNvPr>
          <p:cNvSpPr/>
          <p:nvPr/>
        </p:nvSpPr>
        <p:spPr>
          <a:xfrm>
            <a:off x="8450316" y="5234910"/>
            <a:ext cx="264160" cy="287298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33CF7F6-0DD8-1F9F-8B5A-1F9577D83652}"/>
              </a:ext>
            </a:extLst>
          </p:cNvPr>
          <p:cNvSpPr/>
          <p:nvPr/>
        </p:nvSpPr>
        <p:spPr>
          <a:xfrm>
            <a:off x="9071648" y="5234910"/>
            <a:ext cx="264160" cy="287298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BDFF4197-6E50-A9C8-C412-F0B329668E96}"/>
              </a:ext>
            </a:extLst>
          </p:cNvPr>
          <p:cNvSpPr/>
          <p:nvPr/>
        </p:nvSpPr>
        <p:spPr>
          <a:xfrm>
            <a:off x="9703946" y="5234910"/>
            <a:ext cx="264160" cy="287298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B68EB739-5CA3-B05A-7D7C-5C822557669F}"/>
              </a:ext>
            </a:extLst>
          </p:cNvPr>
          <p:cNvSpPr/>
          <p:nvPr/>
        </p:nvSpPr>
        <p:spPr>
          <a:xfrm>
            <a:off x="10353220" y="5234910"/>
            <a:ext cx="264160" cy="287298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77DA1056-52EF-9FDE-985B-5F8C7DDCA218}"/>
              </a:ext>
            </a:extLst>
          </p:cNvPr>
          <p:cNvSpPr/>
          <p:nvPr/>
        </p:nvSpPr>
        <p:spPr>
          <a:xfrm>
            <a:off x="10983999" y="5234910"/>
            <a:ext cx="264160" cy="287298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776D377-E0BA-1BA4-1F12-DA2674453FDD}"/>
                  </a:ext>
                </a:extLst>
              </p:cNvPr>
              <p:cNvSpPr txBox="1"/>
              <p:nvPr/>
            </p:nvSpPr>
            <p:spPr>
              <a:xfrm>
                <a:off x="9077657" y="5784453"/>
                <a:ext cx="12871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𝑏𝑎𝑤𝑎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776D377-E0BA-1BA4-1F12-DA2674453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657" y="5784453"/>
                <a:ext cx="128714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1714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BEBC0-7701-A47B-E8D3-FE71A2CDF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29F07-DCF2-0B0C-0D67-149E3AD95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Hantaran</a:t>
            </a:r>
            <a:r>
              <a:rPr lang="en-US" dirty="0"/>
              <a:t> Panas 2D </a:t>
            </a:r>
            <a:r>
              <a:rPr lang="en-US" dirty="0" err="1"/>
              <a:t>Tunak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26FAF8-33A7-29E3-CBDC-23C16FFC242C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FABFA3F-1C44-DD43-FA25-8AD7C5F4BD00}"/>
              </a:ext>
            </a:extLst>
          </p:cNvPr>
          <p:cNvSpPr txBox="1">
            <a:spLocks/>
          </p:cNvSpPr>
          <p:nvPr/>
        </p:nvSpPr>
        <p:spPr>
          <a:xfrm>
            <a:off x="838199" y="2292985"/>
            <a:ext cx="6667167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7E89C-B1B5-9E45-13E2-16609AFFA98B}"/>
                  </a:ext>
                </a:extLst>
              </p:cNvPr>
              <p:cNvSpPr txBox="1"/>
              <p:nvPr/>
            </p:nvSpPr>
            <p:spPr>
              <a:xfrm>
                <a:off x="8014169" y="5474454"/>
                <a:ext cx="8286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7E89C-B1B5-9E45-13E2-16609AFFA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169" y="5474454"/>
                <a:ext cx="82867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3A7AE39-E1D1-8138-9BD1-93AB1F769163}"/>
                  </a:ext>
                </a:extLst>
              </p:cNvPr>
              <p:cNvSpPr txBox="1"/>
              <p:nvPr/>
            </p:nvSpPr>
            <p:spPr>
              <a:xfrm>
                <a:off x="10258117" y="5474454"/>
                <a:ext cx="15499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3A7AE39-E1D1-8138-9BD1-93AB1F769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8117" y="5474454"/>
                <a:ext cx="154992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A5D16DA-34FE-2563-A904-192D36470CF5}"/>
                  </a:ext>
                </a:extLst>
              </p:cNvPr>
              <p:cNvSpPr txBox="1"/>
              <p:nvPr/>
            </p:nvSpPr>
            <p:spPr>
              <a:xfrm>
                <a:off x="9203728" y="2423319"/>
                <a:ext cx="1287145" cy="429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A5D16DA-34FE-2563-A904-192D36470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3728" y="2423319"/>
                <a:ext cx="1287145" cy="4299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79FA0D6-1069-CB5B-DBE9-D375116C2BEA}"/>
                  </a:ext>
                </a:extLst>
              </p:cNvPr>
              <p:cNvSpPr txBox="1"/>
              <p:nvPr/>
            </p:nvSpPr>
            <p:spPr>
              <a:xfrm>
                <a:off x="11040326" y="3901998"/>
                <a:ext cx="705407" cy="440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</m:sSubSup>
                    </m:oMath>
                  </m:oMathPara>
                </a14:m>
                <a:endParaRPr lang="en-ID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79FA0D6-1069-CB5B-DBE9-D375116C2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0326" y="3901998"/>
                <a:ext cx="705407" cy="440120"/>
              </a:xfrm>
              <a:prstGeom prst="rect">
                <a:avLst/>
              </a:prstGeom>
              <a:blipFill>
                <a:blip r:embed="rId5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5057E16-8006-763B-F1E1-6563559F9E1A}"/>
                  </a:ext>
                </a:extLst>
              </p:cNvPr>
              <p:cNvSpPr txBox="1"/>
              <p:nvPr/>
            </p:nvSpPr>
            <p:spPr>
              <a:xfrm>
                <a:off x="9174630" y="5393928"/>
                <a:ext cx="1287145" cy="429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/>
                      </m:sSubSup>
                    </m:oMath>
                  </m:oMathPara>
                </a14:m>
                <a:endParaRPr lang="en-ID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5057E16-8006-763B-F1E1-6563559F9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4630" y="5393928"/>
                <a:ext cx="1287145" cy="4299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07B1C37-57EB-3A6D-6FA1-BD17B6EF3A72}"/>
                  </a:ext>
                </a:extLst>
              </p:cNvPr>
              <p:cNvSpPr txBox="1"/>
              <p:nvPr/>
            </p:nvSpPr>
            <p:spPr>
              <a:xfrm>
                <a:off x="7769959" y="5187156"/>
                <a:ext cx="8286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07B1C37-57EB-3A6D-6FA1-BD17B6EF3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9959" y="5187156"/>
                <a:ext cx="828675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B850EC4-2F01-BA3D-A6B9-236AA76BFB90}"/>
                  </a:ext>
                </a:extLst>
              </p:cNvPr>
              <p:cNvSpPr txBox="1"/>
              <p:nvPr/>
            </p:nvSpPr>
            <p:spPr>
              <a:xfrm>
                <a:off x="7084283" y="2698875"/>
                <a:ext cx="15149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 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B850EC4-2F01-BA3D-A6B9-236AA76BF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4283" y="2698875"/>
                <a:ext cx="1514987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30A9172-7FCA-D7BB-9604-9E9115BF1FBF}"/>
                  </a:ext>
                </a:extLst>
              </p:cNvPr>
              <p:cNvSpPr txBox="1"/>
              <p:nvPr/>
            </p:nvSpPr>
            <p:spPr>
              <a:xfrm>
                <a:off x="7647862" y="3901998"/>
                <a:ext cx="1287145" cy="440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</m:sSubSup>
                    </m:oMath>
                  </m:oMathPara>
                </a14:m>
                <a:endParaRPr lang="en-ID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30A9172-7FCA-D7BB-9604-9E9115BF1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7862" y="3901998"/>
                <a:ext cx="1287145" cy="440120"/>
              </a:xfrm>
              <a:prstGeom prst="rect">
                <a:avLst/>
              </a:prstGeom>
              <a:blipFill>
                <a:blip r:embed="rId9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996783FB-E897-2CD3-66A0-D24C5448AD3D}"/>
              </a:ext>
            </a:extLst>
          </p:cNvPr>
          <p:cNvSpPr>
            <a:spLocks noChangeAspect="1"/>
          </p:cNvSpPr>
          <p:nvPr/>
        </p:nvSpPr>
        <p:spPr>
          <a:xfrm>
            <a:off x="8582400" y="2863771"/>
            <a:ext cx="2529802" cy="2529802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68000">
                <a:srgbClr val="FF0000"/>
              </a:gs>
              <a:gs pos="100000">
                <a:srgbClr val="FF0066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127387BB-9562-3AD0-A68B-5214150A89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600" y="2445385"/>
                <a:ext cx="5907486" cy="39858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600" b="1" dirty="0"/>
                  <a:t>FDE</a:t>
                </a:r>
                <a:r>
                  <a:rPr lang="en-US" sz="1600" dirty="0"/>
                  <a:t>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dirty="0"/>
                  <a:t>Dari </a:t>
                </a:r>
                <a:r>
                  <a:rPr lang="en-US" sz="1600" dirty="0" err="1"/>
                  <a:t>persamaan</a:t>
                </a:r>
                <a:r>
                  <a:rPr lang="en-US" sz="1600" dirty="0"/>
                  <a:t>: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nor/>
                      </m:rPr>
                      <a:rPr lang="en-US" sz="2000" i="0">
                        <a:latin typeface="Cambria Math" panose="02040503050406030204" pitchFamily="18" charset="0"/>
                      </a:rPr>
                      <m:t>  </m:t>
                    </m:r>
                    <m:r>
                      <m:rPr>
                        <m:nor/>
                      </m:rP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i="0">
                        <a:latin typeface="Cambria Math" panose="02040503050406030204" pitchFamily="18" charset="0"/>
                      </a:rPr>
                      <m:t> </m:t>
                    </m:r>
                    <m:r>
                      <m:rPr>
                        <m:nor/>
                      </m:rPr>
                      <a:rPr lang="en-US" sz="20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1600" dirty="0"/>
              </a:p>
              <a:p>
                <a:pPr>
                  <a:lnSpc>
                    <a:spcPct val="100000"/>
                  </a:lnSpc>
                </a:pPr>
                <a:r>
                  <a:rPr lang="en-US" sz="1600" dirty="0"/>
                  <a:t>Kita </a:t>
                </a:r>
                <a:r>
                  <a:rPr lang="en-US" sz="1600" dirty="0" err="1"/>
                  <a:t>bagi</a:t>
                </a:r>
                <a:r>
                  <a:rPr lang="en-US" sz="1600" dirty="0"/>
                  <a:t> domain </a:t>
                </a:r>
                <a:r>
                  <a:rPr lang="en-US" sz="1600" dirty="0" err="1"/>
                  <a:t>menjadi</a:t>
                </a:r>
                <a:r>
                  <a:rPr lang="en-US" sz="1600" dirty="0"/>
                  <a:t> grid </a:t>
                </a:r>
                <a:r>
                  <a:rPr lang="en-US" sz="1600" dirty="0" err="1"/>
                  <a:t>persegi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dengan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jarak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antar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titik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600" dirty="0"/>
                  <a:t>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dirty="0" err="1"/>
                  <a:t>Turunan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ke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arah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600" dirty="0"/>
                  <a:t> dan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didekati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dengan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beda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tengah</a:t>
                </a:r>
                <a:endParaRPr lang="en-US" sz="16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  <m:oMath xmlns:m="http://schemas.openxmlformats.org/officeDocument/2006/math"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600" dirty="0"/>
              </a:p>
              <a:p>
                <a:pPr>
                  <a:lnSpc>
                    <a:spcPct val="100000"/>
                  </a:lnSpc>
                </a:pPr>
                <a:r>
                  <a:rPr lang="en-US" sz="1600" dirty="0"/>
                  <a:t>Karena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maka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bisa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digabung</a:t>
                </a:r>
                <a:r>
                  <a:rPr lang="en-US" sz="1600" dirty="0"/>
                  <a:t> dan </a:t>
                </a:r>
                <a:r>
                  <a:rPr lang="en-US" sz="1600" dirty="0" err="1"/>
                  <a:t>untuk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mendapat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suhu</a:t>
                </a:r>
                <a:r>
                  <a:rPr lang="en-US" sz="1600" dirty="0"/>
                  <a:t> di </a:t>
                </a:r>
                <a:r>
                  <a:rPr lang="en-US" sz="1600" dirty="0" err="1"/>
                  <a:t>titik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digunakan</a:t>
                </a:r>
                <a:r>
                  <a:rPr lang="en-US" sz="1600" dirty="0"/>
                  <a:t>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  <a:p>
                <a:pPr>
                  <a:lnSpc>
                    <a:spcPct val="100000"/>
                  </a:lnSpc>
                </a:pPr>
                <a:endParaRPr lang="en-US" sz="1600" dirty="0"/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127387BB-9562-3AD0-A68B-5214150A8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445385"/>
                <a:ext cx="5907486" cy="3985895"/>
              </a:xfrm>
              <a:prstGeom prst="rect">
                <a:avLst/>
              </a:prstGeom>
              <a:blipFill>
                <a:blip r:embed="rId10"/>
                <a:stretch>
                  <a:fillRect l="-413" t="-1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2B36F85-626D-9B49-0DB3-F368D17B5A31}"/>
                  </a:ext>
                </a:extLst>
              </p:cNvPr>
              <p:cNvSpPr txBox="1"/>
              <p:nvPr/>
            </p:nvSpPr>
            <p:spPr>
              <a:xfrm>
                <a:off x="11423317" y="2880432"/>
                <a:ext cx="491577" cy="440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</m:sSubSup>
                    </m:oMath>
                  </m:oMathPara>
                </a14:m>
                <a:endParaRPr lang="en-ID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2B36F85-626D-9B49-0DB3-F368D17B5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3317" y="2880432"/>
                <a:ext cx="491577" cy="440120"/>
              </a:xfrm>
              <a:prstGeom prst="rect">
                <a:avLst/>
              </a:prstGeom>
              <a:blipFill>
                <a:blip r:embed="rId11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6FFDF51-2B55-FE6D-F9A1-94A4A4C6F6FF}"/>
              </a:ext>
            </a:extLst>
          </p:cNvPr>
          <p:cNvCxnSpPr>
            <a:cxnSpLocks/>
          </p:cNvCxnSpPr>
          <p:nvPr/>
        </p:nvCxnSpPr>
        <p:spPr>
          <a:xfrm flipV="1">
            <a:off x="10490873" y="3105807"/>
            <a:ext cx="992547" cy="40164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B2C283EC-8C54-51BC-BDB8-2C1B7C098E65}"/>
              </a:ext>
            </a:extLst>
          </p:cNvPr>
          <p:cNvSpPr/>
          <p:nvPr/>
        </p:nvSpPr>
        <p:spPr>
          <a:xfrm>
            <a:off x="10342838" y="3359994"/>
            <a:ext cx="257114" cy="257114"/>
          </a:xfrm>
          <a:prstGeom prst="flowChartConnector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281406-D7E2-E64D-64E2-DFCAB9F4ED53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99283" y="2686648"/>
            <a:ext cx="2891950" cy="2880000"/>
          </a:xfrm>
          <a:prstGeom prst="rect">
            <a:avLst/>
          </a:prstGeom>
        </p:spPr>
      </p:pic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BAD0DC09-201B-6C1A-F1EC-FE9B287ED779}"/>
              </a:ext>
            </a:extLst>
          </p:cNvPr>
          <p:cNvSpPr/>
          <p:nvPr/>
        </p:nvSpPr>
        <p:spPr>
          <a:xfrm>
            <a:off x="8450316" y="5234910"/>
            <a:ext cx="264160" cy="287298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A8BE0FFC-5657-CA6B-4145-5B338C58E3D5}"/>
              </a:ext>
            </a:extLst>
          </p:cNvPr>
          <p:cNvSpPr/>
          <p:nvPr/>
        </p:nvSpPr>
        <p:spPr>
          <a:xfrm>
            <a:off x="9071648" y="5234910"/>
            <a:ext cx="264160" cy="287298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ED86A35B-4A81-2E0F-690D-8581B2F0B359}"/>
              </a:ext>
            </a:extLst>
          </p:cNvPr>
          <p:cNvSpPr/>
          <p:nvPr/>
        </p:nvSpPr>
        <p:spPr>
          <a:xfrm>
            <a:off x="9703946" y="5234910"/>
            <a:ext cx="264160" cy="287298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9983EE3A-FD2C-6E7C-D247-CBEA92B7BEDA}"/>
              </a:ext>
            </a:extLst>
          </p:cNvPr>
          <p:cNvSpPr/>
          <p:nvPr/>
        </p:nvSpPr>
        <p:spPr>
          <a:xfrm>
            <a:off x="10353220" y="5234910"/>
            <a:ext cx="264160" cy="287298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3C53B810-04E1-8B09-A88E-7EFA943DC934}"/>
              </a:ext>
            </a:extLst>
          </p:cNvPr>
          <p:cNvSpPr/>
          <p:nvPr/>
        </p:nvSpPr>
        <p:spPr>
          <a:xfrm>
            <a:off x="10983999" y="5234910"/>
            <a:ext cx="264160" cy="287298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8E522AA-F358-87CE-9082-CA3BFBD4D69F}"/>
                  </a:ext>
                </a:extLst>
              </p:cNvPr>
              <p:cNvSpPr txBox="1"/>
              <p:nvPr/>
            </p:nvSpPr>
            <p:spPr>
              <a:xfrm>
                <a:off x="9077657" y="5784453"/>
                <a:ext cx="12871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𝑏𝑎𝑤𝑎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8E522AA-F358-87CE-9082-CA3BFBD4D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657" y="5784453"/>
                <a:ext cx="128714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D598446C-0E87-8E44-B29E-C34528723F0D}"/>
              </a:ext>
            </a:extLst>
          </p:cNvPr>
          <p:cNvSpPr/>
          <p:nvPr/>
        </p:nvSpPr>
        <p:spPr>
          <a:xfrm>
            <a:off x="10983999" y="3356612"/>
            <a:ext cx="264160" cy="287298"/>
          </a:xfrm>
          <a:prstGeom prst="flowChartConnector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7A896589-22B8-62CA-3A34-FC49AEAA5324}"/>
              </a:ext>
            </a:extLst>
          </p:cNvPr>
          <p:cNvSpPr/>
          <p:nvPr/>
        </p:nvSpPr>
        <p:spPr>
          <a:xfrm>
            <a:off x="9718923" y="3356612"/>
            <a:ext cx="264160" cy="287298"/>
          </a:xfrm>
          <a:prstGeom prst="flowChartConnector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89BA7BBC-B986-E049-D935-22FC5167544D}"/>
              </a:ext>
            </a:extLst>
          </p:cNvPr>
          <p:cNvSpPr/>
          <p:nvPr/>
        </p:nvSpPr>
        <p:spPr>
          <a:xfrm>
            <a:off x="10345752" y="3984628"/>
            <a:ext cx="264160" cy="287298"/>
          </a:xfrm>
          <a:prstGeom prst="flowChartConnector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39733B53-15FD-3CDF-BA60-836D5C242CA6}"/>
              </a:ext>
            </a:extLst>
          </p:cNvPr>
          <p:cNvSpPr/>
          <p:nvPr/>
        </p:nvSpPr>
        <p:spPr>
          <a:xfrm>
            <a:off x="10345752" y="2719332"/>
            <a:ext cx="264160" cy="287298"/>
          </a:xfrm>
          <a:prstGeom prst="flowChartConnector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2616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EE932-9BDB-58BA-B64A-72863F1A7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677A1-48B9-E1FD-C41F-C130B84BD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Hantaran</a:t>
            </a:r>
            <a:r>
              <a:rPr lang="en-US" dirty="0"/>
              <a:t> Panas 2D </a:t>
            </a:r>
            <a:r>
              <a:rPr lang="en-US" dirty="0" err="1"/>
              <a:t>Tunak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0F968C-26C3-D234-27D9-E63C792B0622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0DB1C7-F67C-68DB-12F0-8972787EF89D}"/>
              </a:ext>
            </a:extLst>
          </p:cNvPr>
          <p:cNvSpPr txBox="1">
            <a:spLocks/>
          </p:cNvSpPr>
          <p:nvPr/>
        </p:nvSpPr>
        <p:spPr>
          <a:xfrm>
            <a:off x="838199" y="2292985"/>
            <a:ext cx="6667167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27197C1-30BC-177D-64BE-8B9DE3AEDE26}"/>
                  </a:ext>
                </a:extLst>
              </p:cNvPr>
              <p:cNvSpPr txBox="1"/>
              <p:nvPr/>
            </p:nvSpPr>
            <p:spPr>
              <a:xfrm>
                <a:off x="8014169" y="5474454"/>
                <a:ext cx="8286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27197C1-30BC-177D-64BE-8B9DE3AED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169" y="5474454"/>
                <a:ext cx="82867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B67A42A-113C-01A4-3B64-68B129787A0B}"/>
                  </a:ext>
                </a:extLst>
              </p:cNvPr>
              <p:cNvSpPr txBox="1"/>
              <p:nvPr/>
            </p:nvSpPr>
            <p:spPr>
              <a:xfrm>
                <a:off x="10258117" y="5474454"/>
                <a:ext cx="15499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B67A42A-113C-01A4-3B64-68B129787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8117" y="5474454"/>
                <a:ext cx="154992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B4841CD-B21A-DC63-A53C-24D794181C2E}"/>
                  </a:ext>
                </a:extLst>
              </p:cNvPr>
              <p:cNvSpPr txBox="1"/>
              <p:nvPr/>
            </p:nvSpPr>
            <p:spPr>
              <a:xfrm>
                <a:off x="9203728" y="2423319"/>
                <a:ext cx="1287145" cy="429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B4841CD-B21A-DC63-A53C-24D794181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3728" y="2423319"/>
                <a:ext cx="1287145" cy="4299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8B6253-8068-66F0-EEA7-D078E99BFC72}"/>
                  </a:ext>
                </a:extLst>
              </p:cNvPr>
              <p:cNvSpPr txBox="1"/>
              <p:nvPr/>
            </p:nvSpPr>
            <p:spPr>
              <a:xfrm>
                <a:off x="11040326" y="3901998"/>
                <a:ext cx="705407" cy="440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</m:sSubSup>
                    </m:oMath>
                  </m:oMathPara>
                </a14:m>
                <a:endParaRPr lang="en-ID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8B6253-8068-66F0-EEA7-D078E99BF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0326" y="3901998"/>
                <a:ext cx="705407" cy="440120"/>
              </a:xfrm>
              <a:prstGeom prst="rect">
                <a:avLst/>
              </a:prstGeom>
              <a:blipFill>
                <a:blip r:embed="rId5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6C9C0A-49E2-1636-0C81-3433242A3F40}"/>
                  </a:ext>
                </a:extLst>
              </p:cNvPr>
              <p:cNvSpPr txBox="1"/>
              <p:nvPr/>
            </p:nvSpPr>
            <p:spPr>
              <a:xfrm>
                <a:off x="9174630" y="5393928"/>
                <a:ext cx="1287145" cy="429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/>
                      </m:sSubSup>
                    </m:oMath>
                  </m:oMathPara>
                </a14:m>
                <a:endParaRPr lang="en-ID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6C9C0A-49E2-1636-0C81-3433242A3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4630" y="5393928"/>
                <a:ext cx="1287145" cy="4299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0514B7E-0E10-F5D1-ED92-B2BB1B073140}"/>
                  </a:ext>
                </a:extLst>
              </p:cNvPr>
              <p:cNvSpPr txBox="1"/>
              <p:nvPr/>
            </p:nvSpPr>
            <p:spPr>
              <a:xfrm>
                <a:off x="7769959" y="5187156"/>
                <a:ext cx="8286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0514B7E-0E10-F5D1-ED92-B2BB1B073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9959" y="5187156"/>
                <a:ext cx="828675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73FAAA-C33D-2B8C-740E-9FB320C0F945}"/>
                  </a:ext>
                </a:extLst>
              </p:cNvPr>
              <p:cNvSpPr txBox="1"/>
              <p:nvPr/>
            </p:nvSpPr>
            <p:spPr>
              <a:xfrm>
                <a:off x="7084283" y="2698875"/>
                <a:ext cx="15149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 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73FAAA-C33D-2B8C-740E-9FB320C0F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4283" y="2698875"/>
                <a:ext cx="1514987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2B92FE5-1320-758B-B468-A20D5872F81B}"/>
                  </a:ext>
                </a:extLst>
              </p:cNvPr>
              <p:cNvSpPr txBox="1"/>
              <p:nvPr/>
            </p:nvSpPr>
            <p:spPr>
              <a:xfrm>
                <a:off x="7647862" y="3901998"/>
                <a:ext cx="1287145" cy="440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</m:sSubSup>
                    </m:oMath>
                  </m:oMathPara>
                </a14:m>
                <a:endParaRPr lang="en-ID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2B92FE5-1320-758B-B468-A20D5872F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7862" y="3901998"/>
                <a:ext cx="1287145" cy="440120"/>
              </a:xfrm>
              <a:prstGeom prst="rect">
                <a:avLst/>
              </a:prstGeom>
              <a:blipFill>
                <a:blip r:embed="rId9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F2641FC0-7C0D-F7BD-8378-BA6A15927579}"/>
              </a:ext>
            </a:extLst>
          </p:cNvPr>
          <p:cNvSpPr>
            <a:spLocks noChangeAspect="1"/>
          </p:cNvSpPr>
          <p:nvPr/>
        </p:nvSpPr>
        <p:spPr>
          <a:xfrm>
            <a:off x="8582400" y="2863771"/>
            <a:ext cx="2529802" cy="2529802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68000">
                <a:srgbClr val="FF0000"/>
              </a:gs>
              <a:gs pos="100000">
                <a:srgbClr val="FF0066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A9A77E84-818E-1398-35A1-FED4F933665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600" y="2445385"/>
                <a:ext cx="5907486" cy="39858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800" b="1" dirty="0"/>
                  <a:t>FDE</a:t>
                </a:r>
                <a:r>
                  <a:rPr lang="en-US" sz="1800" dirty="0"/>
                  <a:t>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Karena </a:t>
                </a:r>
                <a:r>
                  <a:rPr lang="en-US" sz="2000" dirty="0" err="1"/>
                  <a:t>kita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tidak</a:t>
                </a:r>
                <a:r>
                  <a:rPr lang="en-US" sz="2000" dirty="0"/>
                  <a:t> punya </a:t>
                </a:r>
                <a:r>
                  <a:rPr lang="en-US" sz="2000" dirty="0" err="1"/>
                  <a:t>solusi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eksplisit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kita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gunakan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metode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iteratif</a:t>
                </a:r>
                <a:r>
                  <a:rPr lang="en-US" sz="2000" dirty="0"/>
                  <a:t>  </a:t>
                </a:r>
                <a:r>
                  <a:rPr lang="en-US" sz="2000" dirty="0" err="1"/>
                  <a:t>dimana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titik</a:t>
                </a:r>
                <a:r>
                  <a:rPr lang="en-US" sz="2000" dirty="0"/>
                  <a:t> yang </a:t>
                </a:r>
                <a:r>
                  <a:rPr lang="en-US" sz="2000" dirty="0" err="1"/>
                  <a:t>dihitung</a:t>
                </a:r>
                <a:r>
                  <a:rPr lang="en-US" sz="2000" dirty="0"/>
                  <a:t> di </a:t>
                </a:r>
                <a:r>
                  <a:rPr lang="en-US" sz="2000" dirty="0" err="1"/>
                  <a:t>daerah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kotak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putih</a:t>
                </a:r>
                <a:r>
                  <a:rPr lang="en-US" sz="2000" dirty="0"/>
                  <a:t>: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000" dirty="0"/>
                  <a:t>Mulai </a:t>
                </a:r>
                <a:r>
                  <a:rPr lang="en-US" sz="2000" dirty="0" err="1"/>
                  <a:t>dari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tebakan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awal</a:t>
                </a:r>
                <a:r>
                  <a:rPr lang="en-US" sz="2000" dirty="0"/>
                  <a:t> (</a:t>
                </a:r>
                <a:r>
                  <a:rPr lang="en-US" sz="2000" dirty="0" err="1"/>
                  <a:t>misalnya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semua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nol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kecuali</a:t>
                </a:r>
                <a:r>
                  <a:rPr lang="en-US" sz="2000" dirty="0"/>
                  <a:t> batas).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000" dirty="0" err="1"/>
                  <a:t>Perbarui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menggunakan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rumus</a:t>
                </a:r>
                <a:r>
                  <a:rPr lang="en-US" sz="2000" dirty="0"/>
                  <a:t> di </a:t>
                </a:r>
                <a:r>
                  <a:rPr lang="en-US" sz="2000" dirty="0" err="1"/>
                  <a:t>atas</a:t>
                </a:r>
                <a:r>
                  <a:rPr lang="en-US" sz="2000" dirty="0"/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000" dirty="0" err="1"/>
                  <a:t>Ulangi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hingga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perubahan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antar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iterasi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cukup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kecil</a:t>
                </a:r>
                <a:r>
                  <a:rPr lang="en-US" sz="2000" dirty="0"/>
                  <a:t> (</a:t>
                </a:r>
                <a:r>
                  <a:rPr lang="en-US" sz="2000" dirty="0" err="1"/>
                  <a:t>konvergen</a:t>
                </a:r>
                <a:r>
                  <a:rPr lang="en-US" sz="2000" dirty="0"/>
                  <a:t>).</a:t>
                </a:r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A9A77E84-818E-1398-35A1-FED4F9336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445385"/>
                <a:ext cx="5907486" cy="3985895"/>
              </a:xfrm>
              <a:prstGeom prst="rect">
                <a:avLst/>
              </a:prstGeom>
              <a:blipFill>
                <a:blip r:embed="rId10"/>
                <a:stretch>
                  <a:fillRect l="-1135" t="-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1B3EDD8-D6BF-84BE-D095-403EE2E7965A}"/>
                  </a:ext>
                </a:extLst>
              </p:cNvPr>
              <p:cNvSpPr txBox="1"/>
              <p:nvPr/>
            </p:nvSpPr>
            <p:spPr>
              <a:xfrm>
                <a:off x="11423317" y="2880432"/>
                <a:ext cx="491577" cy="440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</m:sSubSup>
                    </m:oMath>
                  </m:oMathPara>
                </a14:m>
                <a:endParaRPr lang="en-ID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1B3EDD8-D6BF-84BE-D095-403EE2E79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3317" y="2880432"/>
                <a:ext cx="491577" cy="440120"/>
              </a:xfrm>
              <a:prstGeom prst="rect">
                <a:avLst/>
              </a:prstGeom>
              <a:blipFill>
                <a:blip r:embed="rId11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5EF0C3F-47D1-CEC0-A5C7-418A5AD36CB3}"/>
              </a:ext>
            </a:extLst>
          </p:cNvPr>
          <p:cNvCxnSpPr>
            <a:cxnSpLocks/>
          </p:cNvCxnSpPr>
          <p:nvPr/>
        </p:nvCxnSpPr>
        <p:spPr>
          <a:xfrm flipV="1">
            <a:off x="10490873" y="3105807"/>
            <a:ext cx="992547" cy="40164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8C78AC7C-6866-1C6D-38EC-A9EAAD220B6B}"/>
              </a:ext>
            </a:extLst>
          </p:cNvPr>
          <p:cNvSpPr/>
          <p:nvPr/>
        </p:nvSpPr>
        <p:spPr>
          <a:xfrm>
            <a:off x="10342838" y="3359994"/>
            <a:ext cx="257114" cy="257114"/>
          </a:xfrm>
          <a:prstGeom prst="flowChartConnector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BC5BD7-2236-9FAF-155A-A37C532B2985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99283" y="2686648"/>
            <a:ext cx="2891950" cy="2880000"/>
          </a:xfrm>
          <a:prstGeom prst="rect">
            <a:avLst/>
          </a:prstGeom>
        </p:spPr>
      </p:pic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7FB48BB3-C064-E58C-B810-8E71DF0FD8AC}"/>
              </a:ext>
            </a:extLst>
          </p:cNvPr>
          <p:cNvSpPr/>
          <p:nvPr/>
        </p:nvSpPr>
        <p:spPr>
          <a:xfrm>
            <a:off x="8450316" y="5234910"/>
            <a:ext cx="264160" cy="287298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67C9C2F-F21C-444B-0992-734DA13D951B}"/>
              </a:ext>
            </a:extLst>
          </p:cNvPr>
          <p:cNvSpPr/>
          <p:nvPr/>
        </p:nvSpPr>
        <p:spPr>
          <a:xfrm>
            <a:off x="9071648" y="5234910"/>
            <a:ext cx="264160" cy="287298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3166F511-DEC9-FD05-A64B-32683F2AA811}"/>
              </a:ext>
            </a:extLst>
          </p:cNvPr>
          <p:cNvSpPr/>
          <p:nvPr/>
        </p:nvSpPr>
        <p:spPr>
          <a:xfrm>
            <a:off x="9703946" y="5234910"/>
            <a:ext cx="264160" cy="287298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6036E356-1A25-07BE-37E0-144E6ABC5F73}"/>
              </a:ext>
            </a:extLst>
          </p:cNvPr>
          <p:cNvSpPr/>
          <p:nvPr/>
        </p:nvSpPr>
        <p:spPr>
          <a:xfrm>
            <a:off x="10353220" y="5234910"/>
            <a:ext cx="264160" cy="287298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92007B56-A22D-9B43-F120-22A5EFA0DFD6}"/>
              </a:ext>
            </a:extLst>
          </p:cNvPr>
          <p:cNvSpPr/>
          <p:nvPr/>
        </p:nvSpPr>
        <p:spPr>
          <a:xfrm>
            <a:off x="10983999" y="5234910"/>
            <a:ext cx="264160" cy="287298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B8B2E9-B3AA-BCA2-3260-CEEE66A9EC74}"/>
                  </a:ext>
                </a:extLst>
              </p:cNvPr>
              <p:cNvSpPr txBox="1"/>
              <p:nvPr/>
            </p:nvSpPr>
            <p:spPr>
              <a:xfrm>
                <a:off x="9077657" y="5784453"/>
                <a:ext cx="12871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𝑏𝑎𝑤𝑎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B8B2E9-B3AA-BCA2-3260-CEEE66A9E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657" y="5784453"/>
                <a:ext cx="128714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517C95F8-B2CA-A9D3-AA66-B2566982721B}"/>
              </a:ext>
            </a:extLst>
          </p:cNvPr>
          <p:cNvSpPr/>
          <p:nvPr/>
        </p:nvSpPr>
        <p:spPr>
          <a:xfrm>
            <a:off x="10983999" y="3356612"/>
            <a:ext cx="264160" cy="287298"/>
          </a:xfrm>
          <a:prstGeom prst="flowChartConnector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E2646241-44FE-D4C1-5916-56AAE8B0E907}"/>
              </a:ext>
            </a:extLst>
          </p:cNvPr>
          <p:cNvSpPr/>
          <p:nvPr/>
        </p:nvSpPr>
        <p:spPr>
          <a:xfrm>
            <a:off x="9718923" y="3356612"/>
            <a:ext cx="264160" cy="287298"/>
          </a:xfrm>
          <a:prstGeom prst="flowChartConnector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EA421AE1-62EA-75EB-8CBA-33B53C861DCC}"/>
              </a:ext>
            </a:extLst>
          </p:cNvPr>
          <p:cNvSpPr/>
          <p:nvPr/>
        </p:nvSpPr>
        <p:spPr>
          <a:xfrm>
            <a:off x="10345752" y="3984628"/>
            <a:ext cx="264160" cy="287298"/>
          </a:xfrm>
          <a:prstGeom prst="flowChartConnector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DCEC1F13-7CC4-CAC2-6B81-4509AEDC4B2C}"/>
              </a:ext>
            </a:extLst>
          </p:cNvPr>
          <p:cNvSpPr/>
          <p:nvPr/>
        </p:nvSpPr>
        <p:spPr>
          <a:xfrm>
            <a:off x="10345752" y="2719332"/>
            <a:ext cx="264160" cy="287298"/>
          </a:xfrm>
          <a:prstGeom prst="flowChartConnector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8BCE2B4-9B5C-9956-5404-D170B2E021FA}"/>
              </a:ext>
            </a:extLst>
          </p:cNvPr>
          <p:cNvSpPr/>
          <p:nvPr/>
        </p:nvSpPr>
        <p:spPr>
          <a:xfrm>
            <a:off x="8906432" y="3143907"/>
            <a:ext cx="1956028" cy="195602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666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15EBF-A9FD-F3D4-3BBF-6F098A7B3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142EC-FAC5-E68B-9179-E85DC5426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Hantaran</a:t>
            </a:r>
            <a:r>
              <a:rPr lang="en-US" dirty="0"/>
              <a:t> Panas 2D </a:t>
            </a:r>
            <a:r>
              <a:rPr lang="en-US" dirty="0" err="1"/>
              <a:t>Tunak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6D2EFE-A124-0D59-2D86-FCA98361DB76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5BDE2CE-6A59-1167-4982-2AC44AC8E86D}"/>
              </a:ext>
            </a:extLst>
          </p:cNvPr>
          <p:cNvSpPr txBox="1">
            <a:spLocks/>
          </p:cNvSpPr>
          <p:nvPr/>
        </p:nvSpPr>
        <p:spPr>
          <a:xfrm>
            <a:off x="838199" y="2292985"/>
            <a:ext cx="6667167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3EC142A-BCCD-2E76-8918-623E40E9E14D}"/>
                  </a:ext>
                </a:extLst>
              </p:cNvPr>
              <p:cNvSpPr txBox="1"/>
              <p:nvPr/>
            </p:nvSpPr>
            <p:spPr>
              <a:xfrm>
                <a:off x="10002101" y="3901998"/>
                <a:ext cx="7054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</m:oMath>
                  </m:oMathPara>
                </a14:m>
                <a:endParaRPr lang="en-ID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3EC142A-BCCD-2E76-8918-623E40E9E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2101" y="3901998"/>
                <a:ext cx="70540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CDB997-89D7-52B3-D0C5-0E2869534529}"/>
                  </a:ext>
                </a:extLst>
              </p:cNvPr>
              <p:cNvSpPr txBox="1"/>
              <p:nvPr/>
            </p:nvSpPr>
            <p:spPr>
              <a:xfrm>
                <a:off x="6380991" y="3940052"/>
                <a:ext cx="1287145" cy="3764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e>
                        <m:sub/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ID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CDB997-89D7-52B3-D0C5-0E2869534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991" y="3940052"/>
                <a:ext cx="1287145" cy="3764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BCBB39AD-313C-24EE-E6A2-2CEC662C0E96}"/>
              </a:ext>
            </a:extLst>
          </p:cNvPr>
          <p:cNvSpPr>
            <a:spLocks noChangeAspect="1"/>
          </p:cNvSpPr>
          <p:nvPr/>
        </p:nvSpPr>
        <p:spPr>
          <a:xfrm>
            <a:off x="7544175" y="2863771"/>
            <a:ext cx="2529802" cy="2529802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68000">
                <a:srgbClr val="FF0000"/>
              </a:gs>
              <a:gs pos="100000">
                <a:srgbClr val="FF0066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87AEDB8C-6CA3-39EA-5914-8063C08C4CB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600" y="2445385"/>
                <a:ext cx="5907486" cy="39858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800" b="1" dirty="0"/>
                  <a:t>Parameter </a:t>
                </a:r>
                <a:r>
                  <a:rPr lang="en-US" sz="1800" b="1" dirty="0" err="1"/>
                  <a:t>Komputasi</a:t>
                </a:r>
                <a:endParaRPr lang="en-US" sz="1800" b="1" dirty="0"/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r>
                  <a:rPr lang="en-US" sz="1800" dirty="0"/>
                  <a:t> m. Panjang </a:t>
                </a:r>
                <a:r>
                  <a:rPr lang="en-US" sz="1800" dirty="0" err="1"/>
                  <a:t>pelat</a:t>
                </a:r>
                <a:r>
                  <a:rPr lang="en-US" sz="1800" dirty="0"/>
                  <a:t>.</a:t>
                </a:r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sz="1800" dirty="0"/>
                  <a:t>. </a:t>
                </a:r>
                <a:r>
                  <a:rPr lang="en-US" sz="1800" dirty="0" err="1"/>
                  <a:t>Jumlah</a:t>
                </a:r>
                <a:r>
                  <a:rPr lang="en-US" sz="1800" dirty="0"/>
                  <a:t> </a:t>
                </a:r>
                <a:r>
                  <a:rPr lang="en-US" sz="1800" dirty="0" err="1"/>
                  <a:t>titik</a:t>
                </a:r>
                <a:r>
                  <a:rPr lang="en-US" sz="1800" dirty="0"/>
                  <a:t> </a:t>
                </a:r>
                <a:r>
                  <a:rPr lang="en-US" sz="1800" dirty="0" err="1"/>
                  <a:t>diskrit</a:t>
                </a:r>
                <a:endParaRPr lang="en-US" sz="1800" dirty="0"/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𝑑𝑦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=0,2 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sz="1800" dirty="0"/>
                  <a:t>. Jarak </a:t>
                </a:r>
                <a:r>
                  <a:rPr lang="en-US" sz="1800" dirty="0" err="1"/>
                  <a:t>antar</a:t>
                </a:r>
                <a:r>
                  <a:rPr lang="en-US" sz="1800" dirty="0"/>
                  <a:t> </a:t>
                </a:r>
                <a:r>
                  <a:rPr lang="en-US" sz="1800" dirty="0" err="1"/>
                  <a:t>titik</a:t>
                </a:r>
                <a:r>
                  <a:rPr lang="en-US" sz="1800" dirty="0"/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800" dirty="0" err="1"/>
                  <a:t>Kondisi</a:t>
                </a:r>
                <a:r>
                  <a:rPr lang="en-US" sz="1800" dirty="0"/>
                  <a:t> batas: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1400" dirty="0" err="1"/>
                  <a:t>Suhu</a:t>
                </a:r>
                <a:r>
                  <a:rPr lang="en-US" sz="1400" dirty="0"/>
                  <a:t> batas </a:t>
                </a:r>
                <a:r>
                  <a:rPr lang="en-US" sz="1400" dirty="0" err="1"/>
                  <a:t>kanan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atas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bawah</a:t>
                </a:r>
                <a:r>
                  <a:rPr lang="en-US" sz="14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400" dirty="0"/>
                  <a:t>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1400" dirty="0" err="1"/>
                  <a:t>Suhu</a:t>
                </a:r>
                <a:r>
                  <a:rPr lang="en-US" sz="1400" dirty="0"/>
                  <a:t> kiri: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400" dirty="0"/>
                  <a:t>.</a:t>
                </a:r>
                <a:endParaRPr lang="en-US" sz="1800" dirty="0"/>
              </a:p>
              <a:p>
                <a:pPr>
                  <a:lnSpc>
                    <a:spcPct val="100000"/>
                  </a:lnSpc>
                </a:pPr>
                <a:r>
                  <a:rPr lang="en-US" sz="1800" dirty="0" err="1"/>
                  <a:t>Untuk</a:t>
                </a:r>
                <a:r>
                  <a:rPr lang="en-US" sz="1800" dirty="0"/>
                  <a:t> </a:t>
                </a:r>
                <a:r>
                  <a:rPr lang="en-US" sz="1800" dirty="0" err="1"/>
                  <a:t>toleransi</a:t>
                </a:r>
                <a:r>
                  <a:rPr lang="en-US" sz="1800" dirty="0"/>
                  <a:t> error </a:t>
                </a:r>
                <a:r>
                  <a:rPr lang="en-US" sz="1800" dirty="0" err="1"/>
                  <a:t>ditetapkan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lang="en-US" sz="1800" dirty="0"/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800" dirty="0" err="1"/>
                  <a:t>Iterasi</a:t>
                </a:r>
                <a:r>
                  <a:rPr lang="en-US" sz="1800" dirty="0"/>
                  <a:t> </a:t>
                </a:r>
                <a:r>
                  <a:rPr lang="en-US" sz="1800" dirty="0" err="1"/>
                  <a:t>maksimum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10.000</m:t>
                    </m:r>
                  </m:oMath>
                </a14:m>
                <a:r>
                  <a:rPr lang="en-US" sz="1800" dirty="0"/>
                  <a:t>. </a:t>
                </a:r>
                <a:br>
                  <a:rPr lang="en-US" sz="1800" dirty="0"/>
                </a:br>
                <a:r>
                  <a:rPr lang="en-US" sz="1800" dirty="0" err="1"/>
                  <a:t>Untuk</a:t>
                </a:r>
                <a:r>
                  <a:rPr lang="en-US" sz="1800" dirty="0"/>
                  <a:t> </a:t>
                </a:r>
                <a:r>
                  <a:rPr lang="en-US" sz="1800" dirty="0" err="1"/>
                  <a:t>mencegah</a:t>
                </a:r>
                <a:r>
                  <a:rPr lang="en-US" sz="1800" dirty="0"/>
                  <a:t> </a:t>
                </a:r>
                <a:r>
                  <a:rPr lang="en-US" sz="1800" dirty="0" err="1"/>
                  <a:t>iterasi</a:t>
                </a:r>
                <a:r>
                  <a:rPr lang="en-US" sz="1800" dirty="0"/>
                  <a:t> </a:t>
                </a:r>
                <a:r>
                  <a:rPr lang="en-US" sz="1800" dirty="0" err="1"/>
                  <a:t>tak</a:t>
                </a:r>
                <a:r>
                  <a:rPr lang="en-US" sz="1800" dirty="0"/>
                  <a:t> </a:t>
                </a:r>
                <a:r>
                  <a:rPr lang="en-US" sz="1800" dirty="0" err="1"/>
                  <a:t>terhingga</a:t>
                </a:r>
                <a:r>
                  <a:rPr lang="en-US" sz="1800" dirty="0"/>
                  <a:t> </a:t>
                </a:r>
                <a:r>
                  <a:rPr lang="en-US" sz="1800" dirty="0" err="1"/>
                  <a:t>jika</a:t>
                </a:r>
                <a:r>
                  <a:rPr lang="en-US" sz="1800" dirty="0"/>
                  <a:t> </a:t>
                </a:r>
                <a:r>
                  <a:rPr lang="en-US" sz="1800" dirty="0" err="1"/>
                  <a:t>toleransi</a:t>
                </a:r>
                <a:r>
                  <a:rPr lang="en-US" sz="1800" dirty="0"/>
                  <a:t> </a:t>
                </a:r>
                <a:r>
                  <a:rPr lang="en-US" sz="1800" dirty="0" err="1"/>
                  <a:t>tak</a:t>
                </a:r>
                <a:r>
                  <a:rPr lang="en-US" sz="1800" dirty="0"/>
                  <a:t> </a:t>
                </a:r>
                <a:r>
                  <a:rPr lang="en-US" sz="1800" dirty="0" err="1"/>
                  <a:t>tercapai</a:t>
                </a:r>
                <a:r>
                  <a:rPr lang="en-US" sz="1800" dirty="0"/>
                  <a:t>.</a:t>
                </a:r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87AEDB8C-6CA3-39EA-5914-8063C08C4C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445385"/>
                <a:ext cx="5907486" cy="3985895"/>
              </a:xfrm>
              <a:prstGeom prst="rect">
                <a:avLst/>
              </a:prstGeom>
              <a:blipFill>
                <a:blip r:embed="rId4"/>
                <a:stretch>
                  <a:fillRect l="-929" t="-1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4F978E-5FDF-5F8B-C2F5-CE611964EB7F}"/>
                  </a:ext>
                </a:extLst>
              </p:cNvPr>
              <p:cNvSpPr txBox="1"/>
              <p:nvPr/>
            </p:nvSpPr>
            <p:spPr>
              <a:xfrm>
                <a:off x="8456372" y="5474454"/>
                <a:ext cx="7054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</m:oMath>
                  </m:oMathPara>
                </a14:m>
                <a:endParaRPr lang="en-ID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4F978E-5FDF-5F8B-C2F5-CE611964E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6372" y="5474454"/>
                <a:ext cx="70540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1894539-1FC8-BCD2-D6C5-A85ECE62C878}"/>
                  </a:ext>
                </a:extLst>
              </p:cNvPr>
              <p:cNvSpPr txBox="1"/>
              <p:nvPr/>
            </p:nvSpPr>
            <p:spPr>
              <a:xfrm>
                <a:off x="8456372" y="2421493"/>
                <a:ext cx="7054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</m:oMath>
                  </m:oMathPara>
                </a14:m>
                <a:endParaRPr lang="en-ID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1894539-1FC8-BCD2-D6C5-A85ECE62C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6372" y="2421493"/>
                <a:ext cx="70540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47858A6-7D99-85DA-D7A9-F483B61E267A}"/>
              </a:ext>
            </a:extLst>
          </p:cNvPr>
          <p:cNvCxnSpPr/>
          <p:nvPr/>
        </p:nvCxnSpPr>
        <p:spPr>
          <a:xfrm>
            <a:off x="7544175" y="5843786"/>
            <a:ext cx="252980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DD96616-3394-0B0E-D590-326561818E1E}"/>
                  </a:ext>
                </a:extLst>
              </p:cNvPr>
              <p:cNvSpPr txBox="1"/>
              <p:nvPr/>
            </p:nvSpPr>
            <p:spPr>
              <a:xfrm>
                <a:off x="8382000" y="5909548"/>
                <a:ext cx="13525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=1.0 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sz="1800" dirty="0"/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DD96616-3394-0B0E-D590-326561818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0" y="5909548"/>
                <a:ext cx="135255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42F3FEE-6E83-A7E8-A169-BB23850A547D}"/>
              </a:ext>
            </a:extLst>
          </p:cNvPr>
          <p:cNvCxnSpPr>
            <a:cxnSpLocks/>
          </p:cNvCxnSpPr>
          <p:nvPr/>
        </p:nvCxnSpPr>
        <p:spPr>
          <a:xfrm flipV="1">
            <a:off x="10597841" y="2863771"/>
            <a:ext cx="0" cy="252980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B8E0557-3EED-63FE-F39C-D14D6CA72169}"/>
                  </a:ext>
                </a:extLst>
              </p:cNvPr>
              <p:cNvSpPr txBox="1"/>
              <p:nvPr/>
            </p:nvSpPr>
            <p:spPr>
              <a:xfrm>
                <a:off x="10707508" y="3947170"/>
                <a:ext cx="13525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=1.0 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sz="1800" dirty="0"/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B8E0557-3EED-63FE-F39C-D14D6CA72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7508" y="3947170"/>
                <a:ext cx="135255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3" name="Picture 42">
            <a:extLst>
              <a:ext uri="{FF2B5EF4-FFF2-40B4-BE49-F238E27FC236}">
                <a16:creationId xmlns:a16="http://schemas.microsoft.com/office/drawing/2014/main" id="{6D009E93-5775-BFB5-7ED3-8AF403B8A697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57261" y="2688277"/>
            <a:ext cx="2891950" cy="2880000"/>
          </a:xfrm>
          <a:prstGeom prst="rect">
            <a:avLst/>
          </a:prstGeom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CC0CF06-42B3-5DC4-C9BA-A103F95DFD25}"/>
              </a:ext>
            </a:extLst>
          </p:cNvPr>
          <p:cNvCxnSpPr/>
          <p:nvPr/>
        </p:nvCxnSpPr>
        <p:spPr>
          <a:xfrm>
            <a:off x="7357261" y="2863771"/>
            <a:ext cx="0" cy="66047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915F6E0-CB7C-730E-AF7D-EF5E28ECEF18}"/>
                  </a:ext>
                </a:extLst>
              </p:cNvPr>
              <p:cNvSpPr txBox="1"/>
              <p:nvPr/>
            </p:nvSpPr>
            <p:spPr>
              <a:xfrm>
                <a:off x="6898016" y="3008053"/>
                <a:ext cx="5698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𝑑𝑦</m:t>
                      </m:r>
                    </m:oMath>
                  </m:oMathPara>
                </a14:m>
                <a:endParaRPr lang="en-ID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915F6E0-CB7C-730E-AF7D-EF5E28ECE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016" y="3008053"/>
                <a:ext cx="569860" cy="369332"/>
              </a:xfrm>
              <a:prstGeom prst="rect">
                <a:avLst/>
              </a:prstGeom>
              <a:blipFill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3D3D58F-FC2B-2EE1-49E0-A97BEC2352FA}"/>
              </a:ext>
            </a:extLst>
          </p:cNvPr>
          <p:cNvCxnSpPr>
            <a:cxnSpLocks/>
          </p:cNvCxnSpPr>
          <p:nvPr/>
        </p:nvCxnSpPr>
        <p:spPr>
          <a:xfrm flipH="1">
            <a:off x="7521534" y="2640633"/>
            <a:ext cx="66044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36FD625-ED78-153A-464C-DFBC04DC3943}"/>
                  </a:ext>
                </a:extLst>
              </p:cNvPr>
              <p:cNvSpPr txBox="1"/>
              <p:nvPr/>
            </p:nvSpPr>
            <p:spPr>
              <a:xfrm>
                <a:off x="7581941" y="2291840"/>
                <a:ext cx="5698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ID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36FD625-ED78-153A-464C-DFBC04DC3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1941" y="2291840"/>
                <a:ext cx="56986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1078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15876-6188-A968-8E7D-4406D6A20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83A89-76FF-5790-11C3-D88D0BC33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Hantaran</a:t>
            </a:r>
            <a:r>
              <a:rPr lang="en-US" dirty="0"/>
              <a:t> Panas 2D </a:t>
            </a:r>
            <a:r>
              <a:rPr lang="en-US" dirty="0" err="1"/>
              <a:t>Tunak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DE824D-8FDA-FB75-725B-DBAC13D8EB8C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F587944-ABAB-2FB8-312D-66DA9CCCDF40}"/>
              </a:ext>
            </a:extLst>
          </p:cNvPr>
          <p:cNvSpPr txBox="1">
            <a:spLocks/>
          </p:cNvSpPr>
          <p:nvPr/>
        </p:nvSpPr>
        <p:spPr>
          <a:xfrm>
            <a:off x="838199" y="2292985"/>
            <a:ext cx="10868026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3A5611-F745-E3C7-609C-D36CBD7BADF9}"/>
              </a:ext>
            </a:extLst>
          </p:cNvPr>
          <p:cNvSpPr txBox="1">
            <a:spLocks/>
          </p:cNvSpPr>
          <p:nvPr/>
        </p:nvSpPr>
        <p:spPr>
          <a:xfrm>
            <a:off x="990599" y="2445385"/>
            <a:ext cx="9677401" cy="377253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Iterasi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visualisasi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steady_state_heat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(u,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=1e-4,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max_iter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=10000):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plt.figure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figsize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=(6,5))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it in range(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max_iter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u_old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u.copy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range(1, N-1):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for j in range(1, N-1):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u[j,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= 0.25 * (u[j+1,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+ u[j-1,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+ u[j, i+1] + u[j, i-1])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error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np.max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np.abs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(u 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u_old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plot_temperature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(u, it)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error &lt;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print(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f'Konvergen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setelah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{it}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iterasi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.')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break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u</a:t>
            </a:r>
          </a:p>
        </p:txBody>
      </p:sp>
    </p:spTree>
    <p:extLst>
      <p:ext uri="{BB962C8B-B14F-4D97-AF65-F5344CB8AC3E}">
        <p14:creationId xmlns:p14="http://schemas.microsoft.com/office/powerpoint/2010/main" val="3152427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6316C-233C-FDAB-9B58-04E06538C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763CE-3846-EE6D-AE12-50C85256A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Hantaran</a:t>
            </a:r>
            <a:r>
              <a:rPr lang="en-US" dirty="0"/>
              <a:t> Panas 2D </a:t>
            </a:r>
            <a:r>
              <a:rPr lang="en-US" dirty="0" err="1"/>
              <a:t>Tunak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52E1CA-DE94-2547-6203-C6ED6F2AF925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BBA354F-0E94-0392-252F-6F0B76D0C7C0}"/>
              </a:ext>
            </a:extLst>
          </p:cNvPr>
          <p:cNvSpPr txBox="1">
            <a:spLocks/>
          </p:cNvSpPr>
          <p:nvPr/>
        </p:nvSpPr>
        <p:spPr>
          <a:xfrm>
            <a:off x="838199" y="2292985"/>
            <a:ext cx="6667167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9CDC633-4D6C-821F-5C93-35FCB1B7066C}"/>
              </a:ext>
            </a:extLst>
          </p:cNvPr>
          <p:cNvSpPr txBox="1">
            <a:spLocks/>
          </p:cNvSpPr>
          <p:nvPr/>
        </p:nvSpPr>
        <p:spPr>
          <a:xfrm>
            <a:off x="990600" y="2445385"/>
            <a:ext cx="5907486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b="1" dirty="0" err="1"/>
              <a:t>Kondisi</a:t>
            </a:r>
            <a:r>
              <a:rPr lang="en-US" sz="1800" b="1" dirty="0"/>
              <a:t> Awal</a:t>
            </a:r>
            <a:r>
              <a:rPr lang="en-US" sz="1800" dirty="0"/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 err="1"/>
              <a:t>Semua</a:t>
            </a:r>
            <a:r>
              <a:rPr lang="en-US" sz="2000" dirty="0"/>
              <a:t> </a:t>
            </a:r>
            <a:r>
              <a:rPr lang="en-US" sz="2000" dirty="0" err="1"/>
              <a:t>titik</a:t>
            </a:r>
            <a:r>
              <a:rPr lang="en-US" sz="2000" dirty="0"/>
              <a:t> </a:t>
            </a:r>
            <a:r>
              <a:rPr lang="en-US" sz="2000" dirty="0" err="1"/>
              <a:t>diisi</a:t>
            </a:r>
            <a:r>
              <a:rPr lang="en-US" sz="2000" dirty="0"/>
              <a:t> </a:t>
            </a:r>
            <a:r>
              <a:rPr lang="en-US" sz="2000" dirty="0" err="1"/>
              <a:t>nol</a:t>
            </a:r>
            <a:r>
              <a:rPr lang="en-US" sz="2000" dirty="0"/>
              <a:t> </a:t>
            </a:r>
            <a:r>
              <a:rPr lang="en-US" sz="2000" dirty="0" err="1"/>
              <a:t>kecuali</a:t>
            </a:r>
            <a:r>
              <a:rPr lang="en-US" sz="2000" dirty="0"/>
              <a:t> di batas .</a:t>
            </a:r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BBE656E-74DE-DC92-8B0B-2BDC1BE98BA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19875" y="2041594"/>
            <a:ext cx="514350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944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CF8AB-F3A4-BEDF-B819-63C019CD9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80F07-DC25-4C8C-DF7C-30895D7DB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Hantaran</a:t>
            </a:r>
            <a:r>
              <a:rPr lang="en-US" dirty="0"/>
              <a:t> Panas 2D </a:t>
            </a:r>
            <a:r>
              <a:rPr lang="en-US" dirty="0" err="1"/>
              <a:t>Tunak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9484D6-0B80-1924-6837-91080D4D6ECD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286C853-9EC6-259F-3B2E-A26A37D8ADEF}"/>
              </a:ext>
            </a:extLst>
          </p:cNvPr>
          <p:cNvSpPr txBox="1">
            <a:spLocks/>
          </p:cNvSpPr>
          <p:nvPr/>
        </p:nvSpPr>
        <p:spPr>
          <a:xfrm>
            <a:off x="838199" y="2292985"/>
            <a:ext cx="6667167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4CC32F8-205D-17BB-D2D6-09842781C5B3}"/>
              </a:ext>
            </a:extLst>
          </p:cNvPr>
          <p:cNvSpPr txBox="1">
            <a:spLocks/>
          </p:cNvSpPr>
          <p:nvPr/>
        </p:nvSpPr>
        <p:spPr>
          <a:xfrm>
            <a:off x="838199" y="2401004"/>
            <a:ext cx="3000375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Hasil </a:t>
            </a:r>
            <a:r>
              <a:rPr lang="en-US" sz="1800" b="1" dirty="0" err="1"/>
              <a:t>Simulasi</a:t>
            </a:r>
            <a:r>
              <a:rPr lang="en-US" sz="1800" dirty="0"/>
              <a:t>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1D1C8F-94C6-2E9D-7375-79A632FC2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248" y="2178519"/>
            <a:ext cx="5132247" cy="4316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6F9E1F-B677-D9CF-BA5C-3D13F382E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165" y="2178519"/>
            <a:ext cx="514350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818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C6F1F-026D-245A-CB31-1FBE04991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2B6F8-5A26-C2E1-F173-7140412D9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Hantaran</a:t>
            </a:r>
            <a:r>
              <a:rPr lang="en-US" dirty="0"/>
              <a:t> Panas 2D </a:t>
            </a:r>
            <a:r>
              <a:rPr lang="en-US" dirty="0" err="1"/>
              <a:t>Tunak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D1C2EF-9BEF-A0E0-8238-6C3D2DE0F6B9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32A8B86-C359-E865-15D7-78CB399FE5D6}"/>
              </a:ext>
            </a:extLst>
          </p:cNvPr>
          <p:cNvSpPr txBox="1">
            <a:spLocks/>
          </p:cNvSpPr>
          <p:nvPr/>
        </p:nvSpPr>
        <p:spPr>
          <a:xfrm>
            <a:off x="838199" y="2292985"/>
            <a:ext cx="6667167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E39652C-9E4E-A825-B3A9-D221E2AF42FD}"/>
              </a:ext>
            </a:extLst>
          </p:cNvPr>
          <p:cNvSpPr txBox="1">
            <a:spLocks/>
          </p:cNvSpPr>
          <p:nvPr/>
        </p:nvSpPr>
        <p:spPr>
          <a:xfrm>
            <a:off x="838199" y="2401004"/>
            <a:ext cx="3000375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Hasil </a:t>
            </a:r>
            <a:r>
              <a:rPr lang="en-US" sz="1800" b="1" dirty="0" err="1"/>
              <a:t>Simulasi</a:t>
            </a:r>
            <a:r>
              <a:rPr lang="en-US" sz="1800" dirty="0"/>
              <a:t>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70B338-16A4-0826-8F61-8EAC9FEA0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200" y="2180094"/>
            <a:ext cx="5143500" cy="43148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9E9F23-3AA1-CF57-557C-2CA6513CC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000" y="2158048"/>
            <a:ext cx="514350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408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27C03-3BCA-38E5-C758-1B1DD71D5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82F81-07ED-30ED-6207-9F141A8B4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Hantaran</a:t>
            </a:r>
            <a:r>
              <a:rPr lang="en-US" dirty="0"/>
              <a:t> Panas 2D </a:t>
            </a:r>
            <a:r>
              <a:rPr lang="en-US" dirty="0" err="1"/>
              <a:t>Tunak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03907B-54A4-A01B-AAD4-656B06EF9CD4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C199484-A1B0-027E-7E7C-B4A3842BCDD1}"/>
              </a:ext>
            </a:extLst>
          </p:cNvPr>
          <p:cNvSpPr txBox="1">
            <a:spLocks/>
          </p:cNvSpPr>
          <p:nvPr/>
        </p:nvSpPr>
        <p:spPr>
          <a:xfrm>
            <a:off x="838199" y="2292985"/>
            <a:ext cx="6667167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29CB89A-D93E-397C-28C9-F1B5CEAB4C0C}"/>
              </a:ext>
            </a:extLst>
          </p:cNvPr>
          <p:cNvSpPr txBox="1">
            <a:spLocks/>
          </p:cNvSpPr>
          <p:nvPr/>
        </p:nvSpPr>
        <p:spPr>
          <a:xfrm>
            <a:off x="838199" y="2401004"/>
            <a:ext cx="3000375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Hasil </a:t>
            </a:r>
            <a:r>
              <a:rPr lang="en-US" sz="1800" b="1" dirty="0" err="1"/>
              <a:t>Simulasi</a:t>
            </a:r>
            <a:r>
              <a:rPr lang="en-US" sz="1800" dirty="0"/>
              <a:t>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  <a:p>
            <a:pPr>
              <a:lnSpc>
                <a:spcPct val="100000"/>
              </a:lnSpc>
            </a:pPr>
            <a:endParaRPr lang="en-US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617FFE-3285-C566-DB0F-399633EEF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018" y="2292984"/>
            <a:ext cx="5143500" cy="43148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02D2AF-952A-CB05-9B7C-B064D162F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350" y="2292985"/>
            <a:ext cx="514350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7351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B91B0-DF9D-D9C4-2959-57D2EE02D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Hantaran</a:t>
            </a:r>
            <a:r>
              <a:rPr lang="en-US" dirty="0"/>
              <a:t> Panas 2D </a:t>
            </a:r>
            <a:r>
              <a:rPr lang="en-US" dirty="0" err="1"/>
              <a:t>Tunak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FBA0EC-1CF4-FC9C-0644-0B07BFB272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66973" y="2292986"/>
                <a:ext cx="3127625" cy="5324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FBA0EC-1CF4-FC9C-0644-0B07BFB272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66973" y="2292986"/>
                <a:ext cx="3127625" cy="53240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9BD7760-10EB-768E-2CDF-605F06F8F11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4213" y="2691830"/>
            <a:ext cx="4402317" cy="370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8527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4E7ED-F9BC-5D51-99F8-BDDF7C53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651C5-41A4-8F03-6B71-31B2D2C98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Simulasi Hantaran Panas 2D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247F58-440B-B94A-7AFE-38B2C36C2202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BCC0BE7-299A-76CB-8867-A3A042A1B953}"/>
              </a:ext>
            </a:extLst>
          </p:cNvPr>
          <p:cNvSpPr txBox="1">
            <a:spLocks/>
          </p:cNvSpPr>
          <p:nvPr/>
        </p:nvSpPr>
        <p:spPr>
          <a:xfrm>
            <a:off x="838199" y="2292985"/>
            <a:ext cx="6667167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1EEFBC-A20E-F341-6ACA-48EACD1069D3}"/>
              </a:ext>
            </a:extLst>
          </p:cNvPr>
          <p:cNvSpPr>
            <a:spLocks noChangeAspect="1"/>
          </p:cNvSpPr>
          <p:nvPr/>
        </p:nvSpPr>
        <p:spPr>
          <a:xfrm>
            <a:off x="8582400" y="2863771"/>
            <a:ext cx="2529802" cy="2529802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68000">
                <a:srgbClr val="FF0000"/>
              </a:gs>
              <a:gs pos="100000">
                <a:srgbClr val="FF0066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E933155D-D041-1534-9468-C7B4728E6E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600" y="2445385"/>
                <a:ext cx="5907486" cy="39858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200" b="1" dirty="0"/>
                  <a:t>Problem di batas </a:t>
                </a:r>
                <a:r>
                  <a:rPr lang="en-US" sz="2200" b="1" dirty="0" err="1"/>
                  <a:t>bersama</a:t>
                </a:r>
                <a:endParaRPr lang="en-US" sz="2200" b="1" dirty="0"/>
              </a:p>
              <a:p>
                <a:pPr>
                  <a:lnSpc>
                    <a:spcPct val="100000"/>
                  </a:lnSpc>
                </a:pPr>
                <a:r>
                  <a:rPr lang="en-US" sz="2200" dirty="0"/>
                  <a:t>Perhatikan </a:t>
                </a:r>
                <a:r>
                  <a:rPr lang="en-US" sz="2200" dirty="0" err="1"/>
                  <a:t>daerah</a:t>
                </a:r>
                <a:r>
                  <a:rPr lang="en-US" sz="2200" dirty="0"/>
                  <a:t> </a:t>
                </a:r>
                <a:r>
                  <a:rPr lang="en-US" sz="2200" dirty="0" err="1"/>
                  <a:t>lingkaran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jingga</a:t>
                </a:r>
                <a:r>
                  <a:rPr lang="en-US" sz="2200" dirty="0"/>
                  <a:t> yang </a:t>
                </a:r>
                <a:r>
                  <a:rPr lang="en-US" sz="2200" dirty="0" err="1"/>
                  <a:t>merupakan</a:t>
                </a:r>
                <a:r>
                  <a:rPr lang="en-US" sz="2200" dirty="0"/>
                  <a:t> overlap dua </a:t>
                </a:r>
                <a:r>
                  <a:rPr lang="en-US" sz="2200" dirty="0" err="1"/>
                  <a:t>nilai</a:t>
                </a:r>
                <a:r>
                  <a:rPr lang="en-US" sz="2200" dirty="0"/>
                  <a:t> batas.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200" dirty="0" err="1"/>
                  <a:t>Untuk</a:t>
                </a:r>
                <a:r>
                  <a:rPr lang="en-US" sz="2200" dirty="0"/>
                  <a:t> </a:t>
                </a:r>
                <a:r>
                  <a:rPr lang="en-US" sz="2200" dirty="0" err="1"/>
                  <a:t>itu</a:t>
                </a:r>
                <a:r>
                  <a:rPr lang="en-US" sz="2200" dirty="0"/>
                  <a:t> </a:t>
                </a:r>
                <a:r>
                  <a:rPr lang="en-US" sz="2200" dirty="0" err="1"/>
                  <a:t>bisa</a:t>
                </a:r>
                <a:r>
                  <a:rPr lang="en-US" sz="2200" dirty="0"/>
                  <a:t> </a:t>
                </a:r>
                <a:r>
                  <a:rPr lang="en-US" sz="2200" dirty="0" err="1"/>
                  <a:t>dilakukan</a:t>
                </a:r>
                <a:r>
                  <a:rPr lang="en-US" sz="2200" dirty="0"/>
                  <a:t>:</a:t>
                </a:r>
              </a:p>
              <a:p>
                <a:pPr marL="800100" lvl="1" indent="-3429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sz="1800" dirty="0"/>
                  <a:t>Nilai </a:t>
                </a:r>
                <a:r>
                  <a:rPr lang="en-US" sz="1800" dirty="0" err="1"/>
                  <a:t>rerata</a:t>
                </a:r>
                <a:r>
                  <a:rPr lang="en-US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𝑘𝑎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𝑎𝑡𝑎𝑠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𝑖𝑟𝑖</m:t>
                            </m:r>
                          </m:sub>
                        </m:sSub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1800" dirty="0"/>
              </a:p>
              <a:p>
                <a:pPr marL="800100" lvl="1" indent="-3429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sz="1800" dirty="0" err="1"/>
                  <a:t>Pilih</a:t>
                </a:r>
                <a:r>
                  <a:rPr lang="en-US" sz="1800" dirty="0"/>
                  <a:t> salah </a:t>
                </a:r>
                <a:r>
                  <a:rPr lang="en-US" sz="1800" dirty="0" err="1"/>
                  <a:t>satu</a:t>
                </a:r>
                <a:r>
                  <a:rPr lang="en-US" sz="1800" dirty="0"/>
                  <a:t> yang </a:t>
                </a:r>
                <a:r>
                  <a:rPr lang="en-US" sz="1800" dirty="0" err="1"/>
                  <a:t>dominan</a:t>
                </a:r>
                <a:r>
                  <a:rPr lang="en-US" sz="1800" dirty="0"/>
                  <a:t>. </a:t>
                </a:r>
                <a:r>
                  <a:rPr lang="en-US" sz="1800" dirty="0" err="1"/>
                  <a:t>Misalnya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𝑎𝑡𝑎𝑠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𝑖𝑟𝑖</m:t>
                        </m:r>
                      </m:sub>
                    </m:sSub>
                  </m:oMath>
                </a14:m>
                <a:r>
                  <a:rPr lang="en-US" sz="1800" dirty="0"/>
                  <a:t> </a:t>
                </a:r>
                <a:r>
                  <a:rPr lang="en-US" sz="1800" dirty="0" err="1"/>
                  <a:t>maka</a:t>
                </a:r>
                <a:r>
                  <a:rPr lang="en-US" sz="1800" dirty="0"/>
                  <a:t> </a:t>
                </a:r>
                <a:r>
                  <a:rPr lang="en-US" sz="1800" dirty="0" err="1"/>
                  <a:t>kita</a:t>
                </a:r>
                <a:r>
                  <a:rPr lang="en-US" sz="1800" dirty="0"/>
                  <a:t> </a:t>
                </a:r>
                <a:r>
                  <a:rPr lang="en-US" sz="1800" dirty="0" err="1"/>
                  <a:t>pilih</a:t>
                </a:r>
                <a:br>
                  <a:rPr lang="en-US" sz="18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𝑝𝑘𝑎</m:t>
                        </m:r>
                      </m:sub>
                    </m:sSub>
                    <m:r>
                      <a:rPr lang="en-US" sz="18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𝑖𝑟𝑖</m:t>
                        </m:r>
                      </m:sub>
                    </m:sSub>
                  </m:oMath>
                </a14:m>
                <a:endParaRPr lang="en-US" sz="1800" dirty="0"/>
              </a:p>
              <a:p>
                <a:pPr marL="800100" lvl="1" indent="-3429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nn-NO" sz="1800" dirty="0"/>
                  <a:t>Ditentukan secara eksplisit berdasarkan kondisi fisik atau eksperimen.</a:t>
                </a:r>
                <a:endParaRPr lang="en-US" sz="18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200" dirty="0"/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E933155D-D041-1534-9468-C7B4728E6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445385"/>
                <a:ext cx="5907486" cy="3985895"/>
              </a:xfrm>
              <a:prstGeom prst="rect">
                <a:avLst/>
              </a:prstGeom>
              <a:blipFill>
                <a:blip r:embed="rId2"/>
                <a:stretch>
                  <a:fillRect l="-1342" t="-18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2104081-68BD-BC30-60E8-9051AE36E95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99784" y="2698201"/>
            <a:ext cx="2891950" cy="2880000"/>
          </a:xfrm>
          <a:prstGeom prst="rect">
            <a:avLst/>
          </a:prstGeom>
        </p:spPr>
      </p:pic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81061A88-1DB0-BFFE-42B8-4F783F567A26}"/>
              </a:ext>
            </a:extLst>
          </p:cNvPr>
          <p:cNvSpPr/>
          <p:nvPr/>
        </p:nvSpPr>
        <p:spPr>
          <a:xfrm>
            <a:off x="8440791" y="2720310"/>
            <a:ext cx="264160" cy="287298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1535627-CDB5-1BE6-2EBB-E109E9247807}"/>
              </a:ext>
            </a:extLst>
          </p:cNvPr>
          <p:cNvSpPr/>
          <p:nvPr/>
        </p:nvSpPr>
        <p:spPr>
          <a:xfrm>
            <a:off x="9062123" y="2739360"/>
            <a:ext cx="264160" cy="287298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FCB1832F-EDE2-01DF-9B11-1FE01AA80F71}"/>
              </a:ext>
            </a:extLst>
          </p:cNvPr>
          <p:cNvSpPr/>
          <p:nvPr/>
        </p:nvSpPr>
        <p:spPr>
          <a:xfrm>
            <a:off x="9694421" y="2739360"/>
            <a:ext cx="264160" cy="287298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EE41CC1B-4142-9137-2A16-64A42CFC75D2}"/>
              </a:ext>
            </a:extLst>
          </p:cNvPr>
          <p:cNvSpPr/>
          <p:nvPr/>
        </p:nvSpPr>
        <p:spPr>
          <a:xfrm>
            <a:off x="10343695" y="2739360"/>
            <a:ext cx="264160" cy="287298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F2A1F45B-3A08-F9F9-62A9-A301F9942ECC}"/>
              </a:ext>
            </a:extLst>
          </p:cNvPr>
          <p:cNvSpPr/>
          <p:nvPr/>
        </p:nvSpPr>
        <p:spPr>
          <a:xfrm>
            <a:off x="10974474" y="2739360"/>
            <a:ext cx="264160" cy="287298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E1ED1E21-7976-6C9B-E30C-AB6C1D9C9BB4}"/>
              </a:ext>
            </a:extLst>
          </p:cNvPr>
          <p:cNvSpPr/>
          <p:nvPr/>
        </p:nvSpPr>
        <p:spPr>
          <a:xfrm>
            <a:off x="8440824" y="4602537"/>
            <a:ext cx="264160" cy="287298"/>
          </a:xfrm>
          <a:prstGeom prst="flowChartConnector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E83B56F2-956E-CFF3-AB0C-0554A3B6120C}"/>
              </a:ext>
            </a:extLst>
          </p:cNvPr>
          <p:cNvSpPr/>
          <p:nvPr/>
        </p:nvSpPr>
        <p:spPr>
          <a:xfrm>
            <a:off x="8440824" y="3994552"/>
            <a:ext cx="264160" cy="287298"/>
          </a:xfrm>
          <a:prstGeom prst="flowChartConnector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34B26D7C-F166-AD02-AD56-16A4953E79EA}"/>
              </a:ext>
            </a:extLst>
          </p:cNvPr>
          <p:cNvSpPr/>
          <p:nvPr/>
        </p:nvSpPr>
        <p:spPr>
          <a:xfrm>
            <a:off x="8440824" y="3358726"/>
            <a:ext cx="264160" cy="287298"/>
          </a:xfrm>
          <a:prstGeom prst="flowChartConnector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4A68BDD2-9004-D1A7-9A3E-73370BCB5EB7}"/>
              </a:ext>
            </a:extLst>
          </p:cNvPr>
          <p:cNvSpPr/>
          <p:nvPr/>
        </p:nvSpPr>
        <p:spPr>
          <a:xfrm>
            <a:off x="8440824" y="5245108"/>
            <a:ext cx="264160" cy="287298"/>
          </a:xfrm>
          <a:prstGeom prst="flowChartConnector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4FA5B5AA-A36D-A981-A4DD-857785461A39}"/>
              </a:ext>
            </a:extLst>
          </p:cNvPr>
          <p:cNvSpPr/>
          <p:nvPr/>
        </p:nvSpPr>
        <p:spPr>
          <a:xfrm>
            <a:off x="8421627" y="2698717"/>
            <a:ext cx="316905" cy="344663"/>
          </a:xfrm>
          <a:prstGeom prst="flowChartConnector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6F5A68B-907B-CDBA-7054-E08104C0E1D8}"/>
                  </a:ext>
                </a:extLst>
              </p:cNvPr>
              <p:cNvSpPr txBox="1"/>
              <p:nvPr/>
            </p:nvSpPr>
            <p:spPr>
              <a:xfrm>
                <a:off x="9203273" y="2257139"/>
                <a:ext cx="12871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𝑎𝑡𝑎𝑠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6F5A68B-907B-CDBA-7054-E08104C0E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3273" y="2257139"/>
                <a:ext cx="128714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1BB4372-0C47-A7ED-3761-F3C24F3C3CC8}"/>
                  </a:ext>
                </a:extLst>
              </p:cNvPr>
              <p:cNvSpPr txBox="1"/>
              <p:nvPr/>
            </p:nvSpPr>
            <p:spPr>
              <a:xfrm>
                <a:off x="7350043" y="3941458"/>
                <a:ext cx="12871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𝑖𝑟𝑖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1BB4372-0C47-A7ED-3761-F3C24F3C3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0043" y="3941458"/>
                <a:ext cx="128714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102AECBC-32F8-592D-BE19-CDEDCB2703D3}"/>
              </a:ext>
            </a:extLst>
          </p:cNvPr>
          <p:cNvSpPr/>
          <p:nvPr/>
        </p:nvSpPr>
        <p:spPr>
          <a:xfrm>
            <a:off x="8321867" y="2593243"/>
            <a:ext cx="515342" cy="560481"/>
          </a:xfrm>
          <a:prstGeom prst="flowChartConnector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229826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D6753-C603-0605-4A93-FAF26E576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8F31B-7E3F-209D-8B04-6CAE23FF1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Hantaran</a:t>
            </a:r>
            <a:r>
              <a:rPr lang="en-US" dirty="0"/>
              <a:t> Panas 2D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02E69E-EF97-8FCD-83C4-35F36EBBA01E}"/>
              </a:ext>
            </a:extLst>
          </p:cNvPr>
          <p:cNvSpPr txBox="1"/>
          <p:nvPr/>
        </p:nvSpPr>
        <p:spPr>
          <a:xfrm>
            <a:off x="274320" y="6217920"/>
            <a:ext cx="23730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>
                <a:solidFill>
                  <a:srgbClr val="646464"/>
                </a:solidFill>
              </a:rPr>
              <a:t>Yoyok Adisetio Laksono fisika um</a:t>
            </a:r>
            <a:endParaRPr sz="1200">
              <a:solidFill>
                <a:srgbClr val="646464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2888C37-4047-FBAF-277E-A86E067F9DF6}"/>
              </a:ext>
            </a:extLst>
          </p:cNvPr>
          <p:cNvSpPr txBox="1">
            <a:spLocks/>
          </p:cNvSpPr>
          <p:nvPr/>
        </p:nvSpPr>
        <p:spPr>
          <a:xfrm>
            <a:off x="838199" y="2292985"/>
            <a:ext cx="6667167" cy="3985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97A5D4-3B82-EB7B-8226-6E054801D941}"/>
                  </a:ext>
                </a:extLst>
              </p:cNvPr>
              <p:cNvSpPr txBox="1"/>
              <p:nvPr/>
            </p:nvSpPr>
            <p:spPr>
              <a:xfrm>
                <a:off x="8014169" y="5474454"/>
                <a:ext cx="8286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97A5D4-3B82-EB7B-8226-6E054801D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169" y="5474454"/>
                <a:ext cx="82867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B406011-10D8-80AB-A613-3F501BA79B18}"/>
                  </a:ext>
                </a:extLst>
              </p:cNvPr>
              <p:cNvSpPr txBox="1"/>
              <p:nvPr/>
            </p:nvSpPr>
            <p:spPr>
              <a:xfrm>
                <a:off x="10258117" y="5474454"/>
                <a:ext cx="15499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B406011-10D8-80AB-A613-3F501BA79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8117" y="5474454"/>
                <a:ext cx="154992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FF02AD9-6B41-912A-2F23-074E9683FE82}"/>
                  </a:ext>
                </a:extLst>
              </p:cNvPr>
              <p:cNvSpPr txBox="1"/>
              <p:nvPr/>
            </p:nvSpPr>
            <p:spPr>
              <a:xfrm>
                <a:off x="9203728" y="2423319"/>
                <a:ext cx="1287145" cy="429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FF02AD9-6B41-912A-2F23-074E9683F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3728" y="2423319"/>
                <a:ext cx="1287145" cy="4299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154DD06-5DE3-2B00-913B-ACEDCD1FA8DE}"/>
                  </a:ext>
                </a:extLst>
              </p:cNvPr>
              <p:cNvSpPr txBox="1"/>
              <p:nvPr/>
            </p:nvSpPr>
            <p:spPr>
              <a:xfrm>
                <a:off x="11040326" y="3901998"/>
                <a:ext cx="705407" cy="440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</m:sSubSup>
                    </m:oMath>
                  </m:oMathPara>
                </a14:m>
                <a:endParaRPr lang="en-ID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154DD06-5DE3-2B00-913B-ACEDCD1FA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0326" y="3901998"/>
                <a:ext cx="705407" cy="440120"/>
              </a:xfrm>
              <a:prstGeom prst="rect">
                <a:avLst/>
              </a:prstGeom>
              <a:blipFill>
                <a:blip r:embed="rId5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C1AE852-2C03-4525-4DC8-04E67613C7D0}"/>
                  </a:ext>
                </a:extLst>
              </p:cNvPr>
              <p:cNvSpPr txBox="1"/>
              <p:nvPr/>
            </p:nvSpPr>
            <p:spPr>
              <a:xfrm>
                <a:off x="9174630" y="5393928"/>
                <a:ext cx="1287145" cy="429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,0</m:t>
                          </m:r>
                        </m:sub>
                        <m:sup/>
                      </m:sSubSup>
                    </m:oMath>
                  </m:oMathPara>
                </a14:m>
                <a:endParaRPr lang="en-ID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C1AE852-2C03-4525-4DC8-04E67613C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4630" y="5393928"/>
                <a:ext cx="1287145" cy="4299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1EB5442-48EA-05C1-D063-9BEA9950B2FB}"/>
                  </a:ext>
                </a:extLst>
              </p:cNvPr>
              <p:cNvSpPr txBox="1"/>
              <p:nvPr/>
            </p:nvSpPr>
            <p:spPr>
              <a:xfrm>
                <a:off x="7769959" y="5187156"/>
                <a:ext cx="8286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1EB5442-48EA-05C1-D063-9BEA9950B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9959" y="5187156"/>
                <a:ext cx="828675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1921C75-254A-210A-23E9-F0A30D6F4DCA}"/>
                  </a:ext>
                </a:extLst>
              </p:cNvPr>
              <p:cNvSpPr txBox="1"/>
              <p:nvPr/>
            </p:nvSpPr>
            <p:spPr>
              <a:xfrm>
                <a:off x="7084283" y="2698875"/>
                <a:ext cx="15149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−1) 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1921C75-254A-210A-23E9-F0A30D6F4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4283" y="2698875"/>
                <a:ext cx="1514987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03AA65-5738-AF53-10E7-6D4DD6B0E800}"/>
                  </a:ext>
                </a:extLst>
              </p:cNvPr>
              <p:cNvSpPr txBox="1"/>
              <p:nvPr/>
            </p:nvSpPr>
            <p:spPr>
              <a:xfrm>
                <a:off x="7647862" y="3901998"/>
                <a:ext cx="1287145" cy="440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</m:sSubSup>
                    </m:oMath>
                  </m:oMathPara>
                </a14:m>
                <a:endParaRPr lang="en-ID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03AA65-5738-AF53-10E7-6D4DD6B0E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7862" y="3901998"/>
                <a:ext cx="1287145" cy="440120"/>
              </a:xfrm>
              <a:prstGeom prst="rect">
                <a:avLst/>
              </a:prstGeom>
              <a:blipFill>
                <a:blip r:embed="rId9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D168F4B7-8AD6-93FE-ABE9-0BA05F7C14FB}"/>
              </a:ext>
            </a:extLst>
          </p:cNvPr>
          <p:cNvSpPr>
            <a:spLocks noChangeAspect="1"/>
          </p:cNvSpPr>
          <p:nvPr/>
        </p:nvSpPr>
        <p:spPr>
          <a:xfrm>
            <a:off x="8582400" y="2863771"/>
            <a:ext cx="2529802" cy="2529802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68000">
                <a:srgbClr val="FF0000"/>
              </a:gs>
              <a:gs pos="100000">
                <a:srgbClr val="FF0066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5703D768-1EF3-0F2C-3078-457CB2BE99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600" y="2445385"/>
                <a:ext cx="5907486" cy="39858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Montserrat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200" b="1" dirty="0"/>
                  <a:t>Problem di batas </a:t>
                </a:r>
                <a:r>
                  <a:rPr lang="en-US" sz="2200" b="1" dirty="0" err="1"/>
                  <a:t>bersama</a:t>
                </a:r>
                <a:r>
                  <a:rPr lang="en-US" sz="2200" dirty="0"/>
                  <a:t>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200" dirty="0" err="1"/>
                  <a:t>Perhatikan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daerah</a:t>
                </a:r>
                <a:r>
                  <a:rPr lang="en-US" sz="2200" dirty="0"/>
                  <a:t> </a:t>
                </a:r>
                <a:r>
                  <a:rPr lang="en-US" sz="2200" dirty="0" err="1"/>
                  <a:t>lingkaran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jingga</a:t>
                </a:r>
                <a:r>
                  <a:rPr lang="en-US" sz="2200" dirty="0"/>
                  <a:t> yang </a:t>
                </a:r>
                <a:r>
                  <a:rPr lang="en-US" sz="2200" dirty="0" err="1"/>
                  <a:t>merupakan</a:t>
                </a:r>
                <a:r>
                  <a:rPr lang="en-US" sz="2200" dirty="0"/>
                  <a:t> overlap dua </a:t>
                </a:r>
                <a:r>
                  <a:rPr lang="en-US" sz="2200" dirty="0" err="1"/>
                  <a:t>nilai</a:t>
                </a:r>
                <a:r>
                  <a:rPr lang="en-US" sz="2200" dirty="0"/>
                  <a:t> batas.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200" dirty="0" err="1"/>
                  <a:t>Untuk</a:t>
                </a:r>
                <a:r>
                  <a:rPr lang="en-US" sz="2200" dirty="0"/>
                  <a:t> </a:t>
                </a:r>
                <a:r>
                  <a:rPr lang="en-US" sz="2200" dirty="0" err="1"/>
                  <a:t>itu</a:t>
                </a:r>
                <a:r>
                  <a:rPr lang="en-US" sz="2200" dirty="0"/>
                  <a:t> </a:t>
                </a:r>
                <a:r>
                  <a:rPr lang="en-US" sz="2200" dirty="0" err="1"/>
                  <a:t>bisa</a:t>
                </a:r>
                <a:r>
                  <a:rPr lang="en-US" sz="2200" dirty="0"/>
                  <a:t> </a:t>
                </a:r>
                <a:r>
                  <a:rPr lang="en-US" sz="2200" dirty="0" err="1"/>
                  <a:t>dilakukan</a:t>
                </a:r>
                <a:r>
                  <a:rPr lang="en-US" sz="2200" dirty="0"/>
                  <a:t>:</a:t>
                </a:r>
              </a:p>
              <a:p>
                <a:pPr marL="800100" lvl="1" indent="-3429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sz="1800" dirty="0"/>
                  <a:t>Nilai </a:t>
                </a:r>
                <a:r>
                  <a:rPr lang="en-US" sz="1800" dirty="0" err="1"/>
                  <a:t>rerata</a:t>
                </a:r>
                <a:r>
                  <a:rPr lang="en-US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𝑝𝑜𝑗𝑜𝑘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𝑏𝑎𝑤𝑎h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𝑘𝑎𝑛𝑎𝑛</m:t>
                            </m:r>
                          </m:sub>
                        </m:sSub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1800" dirty="0"/>
              </a:p>
              <a:p>
                <a:pPr marL="800100" lvl="1" indent="-3429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sz="1800" dirty="0" err="1"/>
                  <a:t>Pilih</a:t>
                </a:r>
                <a:r>
                  <a:rPr lang="en-US" sz="1800" dirty="0"/>
                  <a:t> salah </a:t>
                </a:r>
                <a:r>
                  <a:rPr lang="en-US" sz="1800" dirty="0" err="1"/>
                  <a:t>satu</a:t>
                </a:r>
                <a:r>
                  <a:rPr lang="en-US" sz="1800" dirty="0"/>
                  <a:t> yang </a:t>
                </a:r>
                <a:r>
                  <a:rPr lang="en-US" sz="1800" dirty="0" err="1"/>
                  <a:t>dominan</a:t>
                </a:r>
                <a:r>
                  <a:rPr lang="en-US" sz="1800" dirty="0"/>
                  <a:t>. </a:t>
                </a:r>
                <a:r>
                  <a:rPr lang="en-US" sz="1800" dirty="0" err="1"/>
                  <a:t>Misalnya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𝑏𝑎𝑤𝑎h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𝑘𝑎𝑛𝑎𝑛</m:t>
                        </m:r>
                      </m:sub>
                    </m:sSub>
                  </m:oMath>
                </a14:m>
                <a:r>
                  <a:rPr lang="en-US" sz="1800" dirty="0"/>
                  <a:t> </a:t>
                </a:r>
                <a:r>
                  <a:rPr lang="en-US" sz="1800" dirty="0" err="1"/>
                  <a:t>maka</a:t>
                </a:r>
                <a:r>
                  <a:rPr lang="en-US" sz="1800" dirty="0"/>
                  <a:t> </a:t>
                </a:r>
                <a:r>
                  <a:rPr lang="en-US" sz="1800" dirty="0" err="1"/>
                  <a:t>kita</a:t>
                </a:r>
                <a:r>
                  <a:rPr lang="en-US" sz="1800" dirty="0"/>
                  <a:t> </a:t>
                </a:r>
                <a:r>
                  <a:rPr lang="en-US" sz="1800" dirty="0" err="1"/>
                  <a:t>pilih</a:t>
                </a:r>
                <a:br>
                  <a:rPr lang="en-US" sz="18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𝑝𝑜𝑗𝑜𝑘</m:t>
                        </m:r>
                      </m:sub>
                    </m:sSub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𝑘𝑎𝑛𝑎𝑛</m:t>
                        </m:r>
                      </m:sub>
                    </m:sSub>
                  </m:oMath>
                </a14:m>
                <a:endParaRPr lang="en-US" sz="1800" dirty="0"/>
              </a:p>
              <a:p>
                <a:pPr marL="800100" lvl="1" indent="-3429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nn-NO" sz="1800" dirty="0"/>
                  <a:t>Ditentukan secara eksplisit berdasarkan kondisi fisik atau eksperimen.</a:t>
                </a:r>
                <a:endParaRPr lang="en-US" sz="1800" dirty="0"/>
              </a:p>
              <a:p>
                <a:pPr>
                  <a:lnSpc>
                    <a:spcPct val="100000"/>
                  </a:lnSpc>
                </a:pPr>
                <a:endParaRPr lang="en-US" sz="22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200" dirty="0"/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5703D768-1EF3-0F2C-3078-457CB2BE9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445385"/>
                <a:ext cx="5907486" cy="3985895"/>
              </a:xfrm>
              <a:prstGeom prst="rect">
                <a:avLst/>
              </a:prstGeom>
              <a:blipFill>
                <a:blip r:embed="rId10"/>
                <a:stretch>
                  <a:fillRect l="-1342" t="-18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AD1CC0F-0397-B668-CFEB-E65F6C9B302C}"/>
                  </a:ext>
                </a:extLst>
              </p:cNvPr>
              <p:cNvSpPr txBox="1"/>
              <p:nvPr/>
            </p:nvSpPr>
            <p:spPr>
              <a:xfrm>
                <a:off x="11423317" y="2880432"/>
                <a:ext cx="491577" cy="440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</m:sSubSup>
                    </m:oMath>
                  </m:oMathPara>
                </a14:m>
                <a:endParaRPr lang="en-ID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AD1CC0F-0397-B668-CFEB-E65F6C9B3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3317" y="2880432"/>
                <a:ext cx="491577" cy="440120"/>
              </a:xfrm>
              <a:prstGeom prst="rect">
                <a:avLst/>
              </a:prstGeom>
              <a:blipFill>
                <a:blip r:embed="rId11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F0265FA-7576-C1DA-B976-E0AAC67982D7}"/>
              </a:ext>
            </a:extLst>
          </p:cNvPr>
          <p:cNvCxnSpPr>
            <a:cxnSpLocks/>
          </p:cNvCxnSpPr>
          <p:nvPr/>
        </p:nvCxnSpPr>
        <p:spPr>
          <a:xfrm flipV="1">
            <a:off x="10490873" y="3105807"/>
            <a:ext cx="992547" cy="40164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606AD6C3-C6EC-832B-84DF-09901BDCB85A}"/>
              </a:ext>
            </a:extLst>
          </p:cNvPr>
          <p:cNvSpPr/>
          <p:nvPr/>
        </p:nvSpPr>
        <p:spPr>
          <a:xfrm>
            <a:off x="10342838" y="3359994"/>
            <a:ext cx="257114" cy="257114"/>
          </a:xfrm>
          <a:prstGeom prst="flowChartConnector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C65F06-703E-27AC-BA96-910241F0D31E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99283" y="2686648"/>
            <a:ext cx="2891950" cy="2880000"/>
          </a:xfrm>
          <a:prstGeom prst="rect">
            <a:avLst/>
          </a:prstGeom>
        </p:spPr>
      </p:pic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A567B68D-AE97-BC1E-A91B-F668FA7330FB}"/>
              </a:ext>
            </a:extLst>
          </p:cNvPr>
          <p:cNvSpPr/>
          <p:nvPr/>
        </p:nvSpPr>
        <p:spPr>
          <a:xfrm>
            <a:off x="8450316" y="5234910"/>
            <a:ext cx="264160" cy="287298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0834F66E-D1E1-7A3B-38BB-720A4017EF56}"/>
              </a:ext>
            </a:extLst>
          </p:cNvPr>
          <p:cNvSpPr/>
          <p:nvPr/>
        </p:nvSpPr>
        <p:spPr>
          <a:xfrm>
            <a:off x="9071648" y="5234910"/>
            <a:ext cx="264160" cy="287298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C56C8D5B-5D04-F800-B3D2-B00312E04C35}"/>
              </a:ext>
            </a:extLst>
          </p:cNvPr>
          <p:cNvSpPr/>
          <p:nvPr/>
        </p:nvSpPr>
        <p:spPr>
          <a:xfrm>
            <a:off x="9703946" y="5234910"/>
            <a:ext cx="264160" cy="287298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A738AFB7-56FF-BABB-F19F-577EB98AB018}"/>
              </a:ext>
            </a:extLst>
          </p:cNvPr>
          <p:cNvSpPr/>
          <p:nvPr/>
        </p:nvSpPr>
        <p:spPr>
          <a:xfrm>
            <a:off x="10353220" y="5234910"/>
            <a:ext cx="264160" cy="287298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0F84659B-F519-AC1D-3963-270C75864667}"/>
              </a:ext>
            </a:extLst>
          </p:cNvPr>
          <p:cNvSpPr/>
          <p:nvPr/>
        </p:nvSpPr>
        <p:spPr>
          <a:xfrm>
            <a:off x="10983999" y="5234910"/>
            <a:ext cx="264160" cy="287298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A4856D38-43E0-84D8-7A36-5A93AECA7851}"/>
              </a:ext>
            </a:extLst>
          </p:cNvPr>
          <p:cNvSpPr/>
          <p:nvPr/>
        </p:nvSpPr>
        <p:spPr>
          <a:xfrm>
            <a:off x="10983999" y="4602537"/>
            <a:ext cx="264160" cy="287298"/>
          </a:xfrm>
          <a:prstGeom prst="flowChartConnector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C311792B-8AC7-F0B1-DCE9-6160DC1B4F02}"/>
              </a:ext>
            </a:extLst>
          </p:cNvPr>
          <p:cNvSpPr/>
          <p:nvPr/>
        </p:nvSpPr>
        <p:spPr>
          <a:xfrm>
            <a:off x="10983999" y="3994552"/>
            <a:ext cx="264160" cy="287298"/>
          </a:xfrm>
          <a:prstGeom prst="flowChartConnector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43950FDD-8C4D-EFD3-8FE2-C2F089554568}"/>
              </a:ext>
            </a:extLst>
          </p:cNvPr>
          <p:cNvSpPr/>
          <p:nvPr/>
        </p:nvSpPr>
        <p:spPr>
          <a:xfrm>
            <a:off x="10983999" y="3358726"/>
            <a:ext cx="264160" cy="287298"/>
          </a:xfrm>
          <a:prstGeom prst="flowChartConnector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28422889-7D13-1EFC-DB6F-1E0CE0A8C145}"/>
              </a:ext>
            </a:extLst>
          </p:cNvPr>
          <p:cNvSpPr/>
          <p:nvPr/>
        </p:nvSpPr>
        <p:spPr>
          <a:xfrm>
            <a:off x="10983999" y="2740033"/>
            <a:ext cx="264160" cy="287298"/>
          </a:xfrm>
          <a:prstGeom prst="flowChartConnector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8A45114B-304E-0A42-1235-5AA4A34CB08F}"/>
              </a:ext>
            </a:extLst>
          </p:cNvPr>
          <p:cNvSpPr/>
          <p:nvPr/>
        </p:nvSpPr>
        <p:spPr>
          <a:xfrm>
            <a:off x="10955277" y="5203792"/>
            <a:ext cx="316905" cy="344663"/>
          </a:xfrm>
          <a:prstGeom prst="flowChartConnector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484F2E6-0A42-BBD5-D093-F7AB63EBB31A}"/>
                  </a:ext>
                </a:extLst>
              </p:cNvPr>
              <p:cNvSpPr txBox="1"/>
              <p:nvPr/>
            </p:nvSpPr>
            <p:spPr>
              <a:xfrm>
                <a:off x="9077657" y="5717778"/>
                <a:ext cx="12871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𝑏𝑎𝑤𝑎h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484F2E6-0A42-BBD5-D093-F7AB63EBB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657" y="5717778"/>
                <a:ext cx="128714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604AD58-B363-8FBC-53A7-ACC67CBFA01E}"/>
                  </a:ext>
                </a:extLst>
              </p:cNvPr>
              <p:cNvSpPr txBox="1"/>
              <p:nvPr/>
            </p:nvSpPr>
            <p:spPr>
              <a:xfrm>
                <a:off x="10931709" y="4273473"/>
                <a:ext cx="12871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𝑘𝑎𝑛𝑎𝑛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604AD58-B363-8FBC-53A7-ACC67CBFA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1709" y="4273473"/>
                <a:ext cx="128714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26EC7084-72DA-969B-205F-B8115B2C8817}"/>
              </a:ext>
            </a:extLst>
          </p:cNvPr>
          <p:cNvSpPr/>
          <p:nvPr/>
        </p:nvSpPr>
        <p:spPr>
          <a:xfrm>
            <a:off x="10860027" y="5099017"/>
            <a:ext cx="515342" cy="560481"/>
          </a:xfrm>
          <a:prstGeom prst="flowChartConnector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794941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4FEA1-70C5-E81C-EBF7-24C47784C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Simulasi</a:t>
            </a:r>
            <a:r>
              <a:rPr lang="en-US" dirty="0"/>
              <a:t> </a:t>
            </a:r>
            <a:r>
              <a:rPr lang="en-US" dirty="0" err="1"/>
              <a:t>Hantaran</a:t>
            </a:r>
            <a:r>
              <a:rPr lang="en-US" dirty="0"/>
              <a:t> Panas 2D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FDF8A-FE49-81F3-A352-894241A4F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8B06D9-4FF1-22E5-1370-08EF3FCBC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59594"/>
            <a:ext cx="5153025" cy="4333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CB00BD-1B4A-FD2C-6626-CC27D2F37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69118"/>
            <a:ext cx="514350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2802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975C-2311-2A21-6130-F80D67418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9788E-89B5-21F0-DDB7-37A1FEAA9D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292985"/>
                <a:ext cx="6324600" cy="398589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Buatlah program </a:t>
                </a:r>
                <a:r>
                  <a:rPr lang="en-US" dirty="0" err="1"/>
                  <a:t>untuk</a:t>
                </a:r>
                <a:r>
                  <a:rPr lang="en-US" dirty="0"/>
                  <a:t> </a:t>
                </a:r>
                <a:r>
                  <a:rPr lang="en-US" dirty="0" err="1"/>
                  <a:t>mensimulasikan</a:t>
                </a:r>
                <a:r>
                  <a:rPr lang="en-US" dirty="0"/>
                  <a:t> </a:t>
                </a:r>
                <a:r>
                  <a:rPr lang="en-US" dirty="0" err="1"/>
                  <a:t>hantaran</a:t>
                </a:r>
                <a:r>
                  <a:rPr lang="en-US" dirty="0"/>
                  <a:t> </a:t>
                </a:r>
                <a:r>
                  <a:rPr lang="en-US" dirty="0" err="1"/>
                  <a:t>panas</a:t>
                </a:r>
                <a:r>
                  <a:rPr lang="en-US" dirty="0"/>
                  <a:t> </a:t>
                </a:r>
                <a:r>
                  <a:rPr lang="en-US" dirty="0" err="1"/>
                  <a:t>tunak</a:t>
                </a:r>
                <a:r>
                  <a:rPr lang="en-US" dirty="0"/>
                  <a:t> 2D di </a:t>
                </a:r>
                <a:r>
                  <a:rPr lang="en-US" dirty="0" err="1"/>
                  <a:t>pelat</a:t>
                </a:r>
                <a:r>
                  <a:rPr lang="en-US" dirty="0"/>
                  <a:t> </a:t>
                </a:r>
                <a:r>
                  <a:rPr lang="en-US" dirty="0" err="1"/>
                  <a:t>merah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keadaan</a:t>
                </a:r>
                <a:r>
                  <a:rPr lang="en-US" dirty="0"/>
                  <a:t> </a:t>
                </a:r>
                <a:r>
                  <a:rPr lang="en-US" dirty="0" err="1"/>
                  <a:t>sebagai</a:t>
                </a:r>
                <a:r>
                  <a:rPr lang="en-US" dirty="0"/>
                  <a:t> </a:t>
                </a:r>
                <a:r>
                  <a:rPr lang="en-US" dirty="0" err="1"/>
                  <a:t>berikut</a:t>
                </a:r>
                <a:r>
                  <a:rPr lang="en-US" dirty="0"/>
                  <a:t>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 err="1"/>
                  <a:t>Geometri</a:t>
                </a:r>
                <a:r>
                  <a:rPr lang="en-US" dirty="0"/>
                  <a:t> </a:t>
                </a:r>
                <a:r>
                  <a:rPr lang="en-US" dirty="0" err="1"/>
                  <a:t>sama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contoh</a:t>
                </a:r>
                <a:r>
                  <a:rPr lang="en-US" dirty="0"/>
                  <a:t> </a:t>
                </a:r>
                <a:r>
                  <a:rPr lang="en-US" dirty="0" err="1"/>
                  <a:t>soal</a:t>
                </a:r>
                <a:r>
                  <a:rPr lang="en-US" dirty="0"/>
                  <a:t>, </a:t>
                </a:r>
                <a:r>
                  <a:rPr lang="en-US" dirty="0" err="1"/>
                  <a:t>hanya</a:t>
                </a:r>
                <a:r>
                  <a:rPr lang="en-US" dirty="0"/>
                  <a:t> </a:t>
                </a:r>
                <a:r>
                  <a:rPr lang="en-US" dirty="0" err="1"/>
                  <a:t>saja</a:t>
                </a:r>
                <a:r>
                  <a:rPr lang="en-US" dirty="0"/>
                  <a:t> pada batas </a:t>
                </a:r>
                <a:r>
                  <a:rPr lang="en-US" dirty="0" err="1"/>
                  <a:t>atas</a:t>
                </a:r>
                <a:r>
                  <a:rPr lang="en-US" dirty="0"/>
                  <a:t> </a:t>
                </a:r>
                <a:r>
                  <a:rPr lang="en-US" dirty="0" err="1"/>
                  <a:t>terhubung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pelat</a:t>
                </a:r>
                <a:r>
                  <a:rPr lang="en-US" dirty="0"/>
                  <a:t> lain </a:t>
                </a:r>
                <a:r>
                  <a:rPr lang="en-US" dirty="0" err="1"/>
                  <a:t>panjangnya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suhu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seperti</a:t>
                </a:r>
                <a:r>
                  <a:rPr lang="en-US" dirty="0"/>
                  <a:t> di </a:t>
                </a:r>
                <a:r>
                  <a:rPr lang="en-US" dirty="0" err="1"/>
                  <a:t>gambar</a:t>
                </a:r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9788E-89B5-21F0-DDB7-37A1FEAA9D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292985"/>
                <a:ext cx="6324600" cy="3985895"/>
              </a:xfrm>
              <a:blipFill>
                <a:blip r:embed="rId2"/>
                <a:stretch>
                  <a:fillRect l="-2025" t="-2446" r="-1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4C920D8-11B5-6E8A-75CD-CDB22A53B764}"/>
              </a:ext>
            </a:extLst>
          </p:cNvPr>
          <p:cNvSpPr/>
          <p:nvPr/>
        </p:nvSpPr>
        <p:spPr>
          <a:xfrm>
            <a:off x="8134350" y="3133725"/>
            <a:ext cx="2733675" cy="27336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952FF66-D7C6-4ECA-09F3-F14B711F6C56}"/>
                  </a:ext>
                </a:extLst>
              </p:cNvPr>
              <p:cNvSpPr/>
              <p:nvPr/>
            </p:nvSpPr>
            <p:spPr>
              <a:xfrm>
                <a:off x="9505949" y="1769109"/>
                <a:ext cx="1362075" cy="1362075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952FF66-D7C6-4ECA-09F3-F14B711F6C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5949" y="1769109"/>
                <a:ext cx="1362075" cy="13620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EA9E35-9640-2A7D-79FD-A689C5B55F84}"/>
                  </a:ext>
                </a:extLst>
              </p:cNvPr>
              <p:cNvSpPr txBox="1"/>
              <p:nvPr/>
            </p:nvSpPr>
            <p:spPr>
              <a:xfrm>
                <a:off x="8534399" y="2761852"/>
                <a:ext cx="7054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ID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EA9E35-9640-2A7D-79FD-A689C5B55F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4399" y="2761852"/>
                <a:ext cx="70540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8B9BD3-4743-4BC4-612B-DF18BA877A7C}"/>
                  </a:ext>
                </a:extLst>
              </p:cNvPr>
              <p:cNvSpPr txBox="1"/>
              <p:nvPr/>
            </p:nvSpPr>
            <p:spPr>
              <a:xfrm>
                <a:off x="10763249" y="4310419"/>
                <a:ext cx="7054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ID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8B9BD3-4743-4BC4-612B-DF18BA877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3249" y="4310419"/>
                <a:ext cx="70540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85F0D1-DF91-0770-DE07-D3496AF121E6}"/>
                  </a:ext>
                </a:extLst>
              </p:cNvPr>
              <p:cNvSpPr txBox="1"/>
              <p:nvPr/>
            </p:nvSpPr>
            <p:spPr>
              <a:xfrm>
                <a:off x="9161779" y="5861923"/>
                <a:ext cx="7054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ID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85F0D1-DF91-0770-DE07-D3496AF12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1779" y="5861923"/>
                <a:ext cx="70540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0783F9-B055-A596-053C-4DF0317A8EF5}"/>
                  </a:ext>
                </a:extLst>
              </p:cNvPr>
              <p:cNvSpPr txBox="1"/>
              <p:nvPr/>
            </p:nvSpPr>
            <p:spPr>
              <a:xfrm>
                <a:off x="7381319" y="4310419"/>
                <a:ext cx="7054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ID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0783F9-B055-A596-053C-4DF0317A8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319" y="4310419"/>
                <a:ext cx="705407" cy="369332"/>
              </a:xfrm>
              <a:prstGeom prst="rect">
                <a:avLst/>
              </a:prstGeom>
              <a:blipFill>
                <a:blip r:embed="rId7"/>
                <a:stretch>
                  <a:fillRect r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3A401B-E373-A6A5-82A3-92D22382928A}"/>
                  </a:ext>
                </a:extLst>
              </p:cNvPr>
              <p:cNvSpPr txBox="1"/>
              <p:nvPr/>
            </p:nvSpPr>
            <p:spPr>
              <a:xfrm>
                <a:off x="9187418" y="3131184"/>
                <a:ext cx="705407" cy="609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D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3A401B-E373-A6A5-82A3-92D223829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7418" y="3131184"/>
                <a:ext cx="705407" cy="6090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35054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5E606-05BD-9AE9-C6FC-FC30DCC60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12399-5391-5B09-4691-73D1193B0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77F463-AF02-BC81-F1A8-A2FB11A9D6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292985"/>
                <a:ext cx="6324600" cy="3985895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 startAt="2"/>
                </a:pPr>
                <a:r>
                  <a:rPr lang="en-US" dirty="0"/>
                  <a:t>Geometri </a:t>
                </a:r>
                <a:r>
                  <a:rPr lang="en-US" dirty="0" err="1"/>
                  <a:t>sama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contoh</a:t>
                </a:r>
                <a:r>
                  <a:rPr lang="en-US" dirty="0"/>
                  <a:t> </a:t>
                </a:r>
                <a:r>
                  <a:rPr lang="en-US" dirty="0" err="1"/>
                  <a:t>soal</a:t>
                </a:r>
                <a:r>
                  <a:rPr lang="en-US" dirty="0"/>
                  <a:t>, </a:t>
                </a:r>
                <a:r>
                  <a:rPr lang="en-US" dirty="0" err="1"/>
                  <a:t>hanya</a:t>
                </a:r>
                <a:r>
                  <a:rPr lang="en-US" dirty="0"/>
                  <a:t> </a:t>
                </a:r>
                <a:r>
                  <a:rPr lang="en-US" dirty="0" err="1"/>
                  <a:t>saja</a:t>
                </a:r>
                <a:r>
                  <a:rPr lang="en-US" dirty="0"/>
                  <a:t> pada </a:t>
                </a:r>
                <a:r>
                  <a:rPr lang="en-US" dirty="0" err="1"/>
                  <a:t>titik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terdapat</a:t>
                </a:r>
                <a:r>
                  <a:rPr lang="en-US" dirty="0"/>
                  <a:t> </a:t>
                </a:r>
                <a:r>
                  <a:rPr lang="en-US" dirty="0" err="1"/>
                  <a:t>terdapat</a:t>
                </a:r>
                <a:r>
                  <a:rPr lang="en-US" dirty="0"/>
                  <a:t> </a:t>
                </a:r>
                <a:r>
                  <a:rPr lang="en-US" dirty="0" err="1"/>
                  <a:t>suhu</a:t>
                </a:r>
                <a:r>
                  <a:rPr lang="en-US" dirty="0"/>
                  <a:t> </a:t>
                </a:r>
                <a:r>
                  <a:rPr lang="en-US" dirty="0" err="1"/>
                  <a:t>konstan</a:t>
                </a:r>
                <a:r>
                  <a:rPr lang="en-US" dirty="0"/>
                  <a:t> </a:t>
                </a:r>
                <a:r>
                  <a:rPr lang="en-US" dirty="0" err="1"/>
                  <a:t>sebesar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.</a:t>
                </a:r>
                <a:br>
                  <a:rPr lang="en-US" dirty="0"/>
                </a:br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77F463-AF02-BC81-F1A8-A2FB11A9D6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292985"/>
                <a:ext cx="6324600" cy="3985895"/>
              </a:xfrm>
              <a:blipFill>
                <a:blip r:embed="rId2"/>
                <a:stretch>
                  <a:fillRect l="-2025" t="-2752" r="-1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561E9C9-09DF-8B13-1D1C-E02942A98540}"/>
              </a:ext>
            </a:extLst>
          </p:cNvPr>
          <p:cNvSpPr/>
          <p:nvPr/>
        </p:nvSpPr>
        <p:spPr>
          <a:xfrm>
            <a:off x="8134350" y="3133725"/>
            <a:ext cx="2733675" cy="27336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7CB6C7-C1EF-297D-1A3E-D6F2B4E19F55}"/>
                  </a:ext>
                </a:extLst>
              </p:cNvPr>
              <p:cNvSpPr txBox="1"/>
              <p:nvPr/>
            </p:nvSpPr>
            <p:spPr>
              <a:xfrm>
                <a:off x="9109749" y="2761852"/>
                <a:ext cx="7054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ID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7CB6C7-C1EF-297D-1A3E-D6F2B4E19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9749" y="2761852"/>
                <a:ext cx="70540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1B6E1F-F612-FDA1-9184-E6733CB152B4}"/>
                  </a:ext>
                </a:extLst>
              </p:cNvPr>
              <p:cNvSpPr txBox="1"/>
              <p:nvPr/>
            </p:nvSpPr>
            <p:spPr>
              <a:xfrm>
                <a:off x="10763249" y="4310419"/>
                <a:ext cx="7054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ID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1B6E1F-F612-FDA1-9184-E6733CB15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3249" y="4310419"/>
                <a:ext cx="70540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461F0C-2ED9-A666-B8B2-C0410B712B83}"/>
                  </a:ext>
                </a:extLst>
              </p:cNvPr>
              <p:cNvSpPr txBox="1"/>
              <p:nvPr/>
            </p:nvSpPr>
            <p:spPr>
              <a:xfrm>
                <a:off x="9161779" y="5861923"/>
                <a:ext cx="7054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ID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461F0C-2ED9-A666-B8B2-C0410B712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1779" y="5861923"/>
                <a:ext cx="70540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7E87254-33E6-FEAC-3B25-E831B4BA63BD}"/>
                  </a:ext>
                </a:extLst>
              </p:cNvPr>
              <p:cNvSpPr txBox="1"/>
              <p:nvPr/>
            </p:nvSpPr>
            <p:spPr>
              <a:xfrm>
                <a:off x="7381319" y="4310419"/>
                <a:ext cx="7054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ID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7E87254-33E6-FEAC-3B25-E831B4BA6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319" y="4310419"/>
                <a:ext cx="705407" cy="369332"/>
              </a:xfrm>
              <a:prstGeom prst="rect">
                <a:avLst/>
              </a:prstGeom>
              <a:blipFill>
                <a:blip r:embed="rId6"/>
                <a:stretch>
                  <a:fillRect r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F3D77CA5-BCE2-2F9F-DEE4-A2917062C421}"/>
              </a:ext>
            </a:extLst>
          </p:cNvPr>
          <p:cNvSpPr/>
          <p:nvPr/>
        </p:nvSpPr>
        <p:spPr>
          <a:xfrm>
            <a:off x="9458324" y="4450396"/>
            <a:ext cx="95250" cy="95250"/>
          </a:xfrm>
          <a:prstGeom prst="flowChartConnector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DB5011-8ADE-3343-8A21-D634000F6AF0}"/>
                  </a:ext>
                </a:extLst>
              </p:cNvPr>
              <p:cNvSpPr txBox="1"/>
              <p:nvPr/>
            </p:nvSpPr>
            <p:spPr>
              <a:xfrm>
                <a:off x="8786812" y="4500562"/>
                <a:ext cx="1428750" cy="616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DB5011-8ADE-3343-8A21-D634000F6A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6812" y="4500562"/>
                <a:ext cx="1428750" cy="6167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45BE9A-3F9C-A9E8-C417-ED54DDB1570F}"/>
                  </a:ext>
                </a:extLst>
              </p:cNvPr>
              <p:cNvSpPr txBox="1"/>
              <p:nvPr/>
            </p:nvSpPr>
            <p:spPr>
              <a:xfrm>
                <a:off x="9148483" y="4081064"/>
                <a:ext cx="7054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25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ID" dirty="0">
                  <a:solidFill>
                    <a:schemeClr val="accent4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45BE9A-3F9C-A9E8-C417-ED54DDB157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8483" y="4081064"/>
                <a:ext cx="70540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4751490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 UM 2025 v.1.0">
  <a:themeElements>
    <a:clrScheme name="Pedoman Warna UM">
      <a:dk1>
        <a:srgbClr val="000000"/>
      </a:dk1>
      <a:lt1>
        <a:srgbClr val="FFFFFF"/>
      </a:lt1>
      <a:dk2>
        <a:srgbClr val="022060"/>
      </a:dk2>
      <a:lt2>
        <a:srgbClr val="FFFFFF"/>
      </a:lt2>
      <a:accent1>
        <a:srgbClr val="022060"/>
      </a:accent1>
      <a:accent2>
        <a:srgbClr val="46589B"/>
      </a:accent2>
      <a:accent3>
        <a:srgbClr val="AAD037"/>
      </a:accent3>
      <a:accent4>
        <a:srgbClr val="FBED27"/>
      </a:accent4>
      <a:accent5>
        <a:srgbClr val="1B86C5"/>
      </a:accent5>
      <a:accent6>
        <a:srgbClr val="4BA3C8"/>
      </a:accent6>
      <a:hlink>
        <a:srgbClr val="1B86C5"/>
      </a:hlink>
      <a:folHlink>
        <a:srgbClr val="1B86C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werPoint UM 2025 v.1.0" id="{772F35EB-5A7E-4E4B-A119-A5FEF8273392}" vid="{E654A2FE-0AB2-4C21-80B3-FABBC7DB853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UM 2025 v.1.0</Template>
  <TotalTime>3237</TotalTime>
  <Words>1647</Words>
  <Application>Microsoft Office PowerPoint</Application>
  <PresentationFormat>Widescreen</PresentationFormat>
  <Paragraphs>240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Cambria Math</vt:lpstr>
      <vt:lpstr>Courier New</vt:lpstr>
      <vt:lpstr>Montserrat</vt:lpstr>
      <vt:lpstr>PowerPoint UM 2025 v.1.0</vt:lpstr>
      <vt:lpstr>Komputasi Persamaan Differensial Parsial</vt:lpstr>
      <vt:lpstr>Klasifikasi PDE</vt:lpstr>
      <vt:lpstr>Klasifikasi PDE</vt:lpstr>
      <vt:lpstr>Klasifikasi PDE</vt:lpstr>
      <vt:lpstr>Klasifikasi PDE</vt:lpstr>
      <vt:lpstr>PDE vs ODE</vt:lpstr>
      <vt:lpstr>Kondisi Batas Dirichlet</vt:lpstr>
      <vt:lpstr>Kondisi Batas Neumann</vt:lpstr>
      <vt:lpstr>Kondisi Batas Cauchy</vt:lpstr>
      <vt:lpstr>Simulasi Hantaran Panas 2D Tunak</vt:lpstr>
      <vt:lpstr>Simulasi Hantaran Panas 2D Tunak</vt:lpstr>
      <vt:lpstr>Simulasi Hantaran Panas 2D Tunak</vt:lpstr>
      <vt:lpstr>Simulasi Hantaran Panas 2D Tunak</vt:lpstr>
      <vt:lpstr>Simulasi Hantaran Panas 2D Tunak</vt:lpstr>
      <vt:lpstr>Simulasi Hantaran Panas 2D Tunak</vt:lpstr>
      <vt:lpstr>Simulasi Hantaran Panas 2D Tunak</vt:lpstr>
      <vt:lpstr>Simulasi Hantaran Panas 2D Tunak</vt:lpstr>
      <vt:lpstr>Simulasi Hantaran Panas 2D Tunak</vt:lpstr>
      <vt:lpstr>Simulasi Hantaran Panas 2D Tunak</vt:lpstr>
      <vt:lpstr>Simulasi Hantaran Panas 2D Tunak</vt:lpstr>
      <vt:lpstr>Simulasi Hantaran Panas 2D Tunak</vt:lpstr>
      <vt:lpstr>Simulasi Hantaran Panas 2D</vt:lpstr>
      <vt:lpstr>Simulasi Hantaran Panas 2D</vt:lpstr>
      <vt:lpstr>Simulasi Hantaran Panas 2D</vt:lpstr>
      <vt:lpstr>Tugas</vt:lpstr>
      <vt:lpstr>Tugas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yoyok.adisetio</dc:creator>
  <cp:lastModifiedBy>yoyok.adisetio</cp:lastModifiedBy>
  <cp:revision>102</cp:revision>
  <cp:lastPrinted>2025-10-15T05:16:58Z</cp:lastPrinted>
  <dcterms:created xsi:type="dcterms:W3CDTF">2025-10-02T02:43:41Z</dcterms:created>
  <dcterms:modified xsi:type="dcterms:W3CDTF">2025-10-29T06:06:10Z</dcterms:modified>
</cp:coreProperties>
</file>