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350" r:id="rId3"/>
    <p:sldId id="351" r:id="rId4"/>
    <p:sldId id="352" r:id="rId5"/>
    <p:sldId id="353" r:id="rId6"/>
    <p:sldId id="354" r:id="rId7"/>
    <p:sldId id="355" r:id="rId8"/>
    <p:sldId id="356" r:id="rId9"/>
    <p:sldId id="357" r:id="rId10"/>
    <p:sldId id="358" r:id="rId11"/>
    <p:sldId id="359" r:id="rId1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1234-2A88-AE76-19A4-0D575D1A8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22A40-1FDA-E7BF-697B-F39B8D619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2530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D55B-B53D-0150-9368-BF10BD69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2B55B-D286-63E5-0A56-95862953D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62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8EBE-FC99-5BDC-A95D-F8E08ADCA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840" y="365125"/>
            <a:ext cx="7457440" cy="1325563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03567-8C49-3F5A-BF54-ADA3205C8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509000" cy="435133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00141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D51E-087B-6394-FFC7-AAAF250C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845"/>
            <a:ext cx="10515600" cy="1325563"/>
          </a:xfrm>
        </p:spPr>
        <p:txBody>
          <a:bodyPr/>
          <a:lstStyle>
            <a:lvl1pPr>
              <a:defRPr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4552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AB19-D5D7-F74D-D991-A71308B6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8880"/>
            <a:ext cx="10515600" cy="959168"/>
          </a:xfrm>
        </p:spPr>
        <p:txBody>
          <a:bodyPr/>
          <a:lstStyle>
            <a:lvl1pPr>
              <a:defRPr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DA37-47C4-F2E7-87BD-6B1E36DAE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2985"/>
            <a:ext cx="10515600" cy="3985895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7744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14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AB01-23C3-2991-F1F9-C6558413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93803-0C08-3951-5C04-F4175A3F7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>
                <a:latin typeface="Montserrat" pitchFamily="2" charset="0"/>
              </a:defRPr>
            </a:lvl1pPr>
            <a:lvl2pPr>
              <a:defRPr sz="2800" b="0">
                <a:latin typeface="Montserrat" pitchFamily="2" charset="0"/>
              </a:defRPr>
            </a:lvl2pPr>
            <a:lvl3pPr>
              <a:defRPr sz="2400" b="0">
                <a:latin typeface="Montserrat" pitchFamily="2" charset="0"/>
              </a:defRPr>
            </a:lvl3pPr>
            <a:lvl4pPr>
              <a:defRPr sz="2000" b="0">
                <a:latin typeface="Montserrat" pitchFamily="2" charset="0"/>
              </a:defRPr>
            </a:lvl4pPr>
            <a:lvl5pPr>
              <a:defRPr sz="2000" b="0">
                <a:latin typeface="Montserrat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CC01B-0640-F9D7-ABA3-4AC9AABD8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>
                <a:latin typeface="Montserra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EBB0-2A30-80B3-E4A5-7DEE86A0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9A4C7-808D-9DC3-2D93-43EA0E01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66351-A966-9298-589E-743FD0711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447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5DE9A-B6DE-C41B-0FC2-FDE7750D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35593-5246-23C7-F11A-E38C43D84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3243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045DC-A18F-2297-79C9-10790E9C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48336-2C92-1972-6975-26D2A9E78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8691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Paint in motion from the bottom of the view">
            <a:extLst>
              <a:ext uri="{FF2B5EF4-FFF2-40B4-BE49-F238E27FC236}">
                <a16:creationId xmlns:a16="http://schemas.microsoft.com/office/drawing/2014/main" id="{D81D5B29-DB1A-F31F-BE34-3A17BDDB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91"/>
          <a:stretch>
            <a:fillRect/>
          </a:stretch>
        </p:blipFill>
        <p:spPr>
          <a:xfrm>
            <a:off x="575786" y="1318170"/>
            <a:ext cx="7850188" cy="4415716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E9C084-D47D-EDED-A59D-48C6A16E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885487" cy="2238376"/>
          </a:xfrm>
        </p:spPr>
        <p:txBody>
          <a:bodyPr anchor="b">
            <a:normAutofit/>
          </a:bodyPr>
          <a:lstStyle/>
          <a:p>
            <a:r>
              <a:rPr lang="en-US" sz="3600" dirty="0" err="1"/>
              <a:t>Komputasi</a:t>
            </a:r>
            <a:r>
              <a:rPr lang="en-US" sz="3600" dirty="0"/>
              <a:t> </a:t>
            </a:r>
            <a:r>
              <a:rPr lang="en-US" sz="3600" dirty="0" err="1"/>
              <a:t>Persamaan</a:t>
            </a:r>
            <a:r>
              <a:rPr lang="en-US" sz="3600" dirty="0"/>
              <a:t> </a:t>
            </a:r>
            <a:r>
              <a:rPr lang="en-US" sz="3600" dirty="0" err="1"/>
              <a:t>Differensial</a:t>
            </a:r>
            <a:r>
              <a:rPr lang="en-US" sz="3600" dirty="0"/>
              <a:t> </a:t>
            </a:r>
            <a:r>
              <a:rPr lang="en-US" sz="3600" dirty="0" err="1"/>
              <a:t>Parsial</a:t>
            </a:r>
            <a:br>
              <a:rPr lang="en-US" sz="3600" dirty="0"/>
            </a:br>
            <a:r>
              <a:rPr lang="en-US" sz="3600" dirty="0" err="1"/>
              <a:t>Hiperbolik</a:t>
            </a:r>
            <a:endParaRPr lang="en-ID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829E7-A2A3-FC4E-6A49-106DA6FD1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364" y="2876550"/>
            <a:ext cx="3865562" cy="2992438"/>
          </a:xfrm>
        </p:spPr>
        <p:txBody>
          <a:bodyPr>
            <a:normAutofit/>
          </a:bodyPr>
          <a:lstStyle/>
          <a:p>
            <a:r>
              <a:rPr lang="pt-BR" sz="2400" dirty="0"/>
              <a:t>Yoyok Adisetio Laksono</a:t>
            </a:r>
            <a:br>
              <a:rPr lang="en-US" sz="2400" dirty="0"/>
            </a:br>
            <a:r>
              <a:rPr lang="en-US" sz="2400" dirty="0" err="1"/>
              <a:t>Departemen</a:t>
            </a:r>
            <a:r>
              <a:rPr lang="en-US" sz="2400" dirty="0"/>
              <a:t> Fisika</a:t>
            </a:r>
            <a:br>
              <a:rPr lang="en-US" sz="2400" dirty="0"/>
            </a:br>
            <a:r>
              <a:rPr lang="en-US" sz="2400" dirty="0" err="1"/>
              <a:t>FMIPA</a:t>
            </a:r>
            <a:r>
              <a:rPr lang="en-US" sz="2400" dirty="0"/>
              <a:t> UM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68259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73F1-2B8E-6C12-2966-A1957AA1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AE2B-6B41-B101-B102-AB2CE4F8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2D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83313-AF85-EB5E-EA94-AC6F1138CDB2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0368E8-D62E-18A6-AA2E-5F063C0CCC3B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075A80C-63E7-B624-0F58-06F242F705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599" y="2445385"/>
                <a:ext cx="7078645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400" dirty="0"/>
                  <a:t>Persamaan </a:t>
                </a:r>
                <a:r>
                  <a:rPr lang="en-US" sz="2400" dirty="0" err="1"/>
                  <a:t>Gelombang</a:t>
                </a:r>
                <a:r>
                  <a:rPr lang="en-US" sz="2400" dirty="0"/>
                  <a:t> 2D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 err="1"/>
                  <a:t>Merupakan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persamaan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hiperbola</a:t>
                </a:r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 err="1"/>
                  <a:t>Aplikasi</a:t>
                </a:r>
                <a:r>
                  <a:rPr lang="en-US" sz="2400" dirty="0"/>
                  <a:t>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000" dirty="0" err="1"/>
                  <a:t>Gelombang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suara</a:t>
                </a:r>
                <a:r>
                  <a:rPr lang="en-US" sz="2000" dirty="0"/>
                  <a:t>, air, </a:t>
                </a:r>
                <a:r>
                  <a:rPr lang="en-US" sz="2000" dirty="0" err="1"/>
                  <a:t>seismologi</a:t>
                </a:r>
                <a:r>
                  <a:rPr lang="en-US" sz="2000" dirty="0"/>
                  <a:t>, EM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075A80C-63E7-B624-0F58-06F242F70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2445385"/>
                <a:ext cx="7078645" cy="3985895"/>
              </a:xfrm>
              <a:prstGeom prst="rect">
                <a:avLst/>
              </a:prstGeom>
              <a:blipFill>
                <a:blip r:embed="rId2"/>
                <a:stretch>
                  <a:fillRect l="-1119" t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099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3F507-16FA-9EEF-AAB4-B4D88272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9830-0C33-7224-581C-7037BD1BC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2D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F8B44-69D8-12B3-5157-2502A7F0212E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024BDF-11FD-4197-0C68-D95AD5F82725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D07C224-6D1C-5271-4B3A-F46D262C0F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2445385"/>
                <a:ext cx="6867964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400" dirty="0"/>
                  <a:t>Kita </a:t>
                </a:r>
                <a:r>
                  <a:rPr lang="en-US" sz="2400" dirty="0" err="1"/>
                  <a:t>simulasikan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sebuah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gelombang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dimana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sumber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gelombang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ada</a:t>
                </a:r>
                <a:r>
                  <a:rPr lang="en-US" sz="2400" dirty="0"/>
                  <a:t> di </a:t>
                </a:r>
                <a:r>
                  <a:rPr lang="en-US" sz="2400" dirty="0" err="1"/>
                  <a:t>tengah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berupa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fungsi</a:t>
                </a:r>
                <a:r>
                  <a:rPr lang="en-US" sz="2400" dirty="0"/>
                  <a:t> Gaussian </a:t>
                </a:r>
                <a:r>
                  <a:rPr lang="en-US" sz="2400" dirty="0" err="1"/>
                  <a:t>isotropik</a:t>
                </a:r>
                <a:r>
                  <a:rPr lang="en-US" sz="2400" dirty="0"/>
                  <a:t>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 err="1"/>
                  <a:t>Kondisi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awal</a:t>
                </a:r>
                <a:r>
                  <a:rPr lang="en-US" sz="2400" dirty="0"/>
                  <a:t>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 err="1"/>
                  <a:t>Kondisi</a:t>
                </a:r>
                <a:r>
                  <a:rPr lang="en-US" sz="2400" dirty="0"/>
                  <a:t> batas </a:t>
                </a:r>
                <a:r>
                  <a:rPr lang="en-US" sz="2400" dirty="0" err="1"/>
                  <a:t>adalah</a:t>
                </a:r>
                <a:r>
                  <a:rPr lang="en-US" sz="2400" dirty="0"/>
                  <a:t> Dirichlet </a:t>
                </a:r>
                <a:r>
                  <a:rPr lang="en-US" sz="2400" dirty="0" err="1"/>
                  <a:t>dimana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amplitudo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bernilai</a:t>
                </a:r>
                <a:r>
                  <a:rPr lang="en-US" sz="2400" dirty="0"/>
                  <a:t> 0 (</a:t>
                </a:r>
                <a:r>
                  <a:rPr lang="en-US" sz="2400" dirty="0" err="1"/>
                  <a:t>gelombang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memantul</a:t>
                </a:r>
                <a:r>
                  <a:rPr lang="en-US" sz="2400" dirty="0"/>
                  <a:t>).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D07C224-6D1C-5271-4B3A-F46D262C0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45385"/>
                <a:ext cx="6867964" cy="3985895"/>
              </a:xfrm>
              <a:prstGeom prst="rect">
                <a:avLst/>
              </a:prstGeom>
              <a:blipFill>
                <a:blip r:embed="rId2"/>
                <a:stretch>
                  <a:fillRect l="-1243" t="-1988" b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0362E70-6061-E3CE-ED8E-590594A69001}"/>
              </a:ext>
            </a:extLst>
          </p:cNvPr>
          <p:cNvSpPr/>
          <p:nvPr/>
        </p:nvSpPr>
        <p:spPr>
          <a:xfrm>
            <a:off x="8134350" y="2819400"/>
            <a:ext cx="2733675" cy="27336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6C07E196-C76D-7FE5-4ACE-1770F8B74BCF}"/>
              </a:ext>
            </a:extLst>
          </p:cNvPr>
          <p:cNvSpPr/>
          <p:nvPr/>
        </p:nvSpPr>
        <p:spPr>
          <a:xfrm>
            <a:off x="9507058" y="4192549"/>
            <a:ext cx="132242" cy="132242"/>
          </a:xfrm>
          <a:prstGeom prst="flowChartConnector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14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6F6B-DEFC-55F6-A69D-7AB631547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2BD6-AC5D-7FB7-F047-A5CDB3FC1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2D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E3D0D-F96A-0022-3DCE-6B0C78C1F271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FB1221-923C-51CE-C1C7-239A492072F3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06E91DE-5F75-3067-5AF9-49C1DC7774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599" y="2445385"/>
                <a:ext cx="9182101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400" dirty="0"/>
                  <a:t>Diskritisasi: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 err="1"/>
                  <a:t>FDE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terhadap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waktu</a:t>
                </a:r>
                <a:r>
                  <a:rPr lang="en-US" sz="24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 err="1"/>
                  <a:t>FDE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terhadap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ruang</a:t>
                </a:r>
                <a:r>
                  <a:rPr lang="en-US" sz="2400" dirty="0"/>
                  <a:t> (Laplacian)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 err="1"/>
                  <a:t>Gabungan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FDE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diperoleh</a:t>
                </a:r>
                <a:r>
                  <a:rPr lang="en-US" sz="24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06E91DE-5F75-3067-5AF9-49C1DC777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2445385"/>
                <a:ext cx="9182101" cy="3985895"/>
              </a:xfrm>
              <a:prstGeom prst="rect">
                <a:avLst/>
              </a:prstGeom>
              <a:blipFill>
                <a:blip r:embed="rId2"/>
                <a:stretch>
                  <a:fillRect l="-730" t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71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A7C9E-AA11-1956-4B5A-0B9D634B5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3FDE-A730-A1E3-B9C4-1A78A002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2D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D47F5-7A99-BCBF-5E75-F71DE90D10E9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8293C59-675D-87F0-A28D-164517D4E95B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A4575-15BD-D074-B461-7DDB8FCF32A0}"/>
              </a:ext>
            </a:extLst>
          </p:cNvPr>
          <p:cNvSpPr txBox="1">
            <a:spLocks/>
          </p:cNvSpPr>
          <p:nvPr/>
        </p:nvSpPr>
        <p:spPr>
          <a:xfrm>
            <a:off x="990599" y="2445385"/>
            <a:ext cx="3752851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Hasil </a:t>
            </a:r>
            <a:r>
              <a:rPr lang="en-US" sz="2400" dirty="0" err="1"/>
              <a:t>simulasi</a:t>
            </a:r>
            <a:endParaRPr lang="en-US" sz="2400" dirty="0"/>
          </a:p>
        </p:txBody>
      </p:sp>
      <p:pic>
        <p:nvPicPr>
          <p:cNvPr id="3" name="simulasi_gelombang_2D">
            <a:hlinkClick r:id="" action="ppaction://media"/>
            <a:extLst>
              <a:ext uri="{FF2B5EF4-FFF2-40B4-BE49-F238E27FC236}">
                <a16:creationId xmlns:a16="http://schemas.microsoft.com/office/drawing/2014/main" id="{3A457B46-594C-0786-91DF-2C47538A87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83170" y="2027306"/>
            <a:ext cx="5772150" cy="432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76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A7C9E-AA11-1956-4B5A-0B9D634B5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3FDE-A730-A1E3-B9C4-1A78A002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2D Celah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D47F5-7A99-BCBF-5E75-F71DE90D10E9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8293C59-675D-87F0-A28D-164517D4E95B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A4575-15BD-D074-B461-7DDB8FCF32A0}"/>
              </a:ext>
            </a:extLst>
          </p:cNvPr>
          <p:cNvSpPr txBox="1">
            <a:spLocks/>
          </p:cNvSpPr>
          <p:nvPr/>
        </p:nvSpPr>
        <p:spPr>
          <a:xfrm>
            <a:off x="990599" y="2445385"/>
            <a:ext cx="3752851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Domain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sebelumnya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saja</a:t>
            </a:r>
            <a:r>
              <a:rPr lang="en-US" sz="2400" dirty="0"/>
              <a:t> di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celah</a:t>
            </a:r>
            <a:r>
              <a:rPr lang="en-US" sz="24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F1C7B-B19E-D637-E682-5455EC63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48" t="5482" r="12748" b="5448"/>
          <a:stretch>
            <a:fillRect/>
          </a:stretch>
        </p:blipFill>
        <p:spPr>
          <a:xfrm>
            <a:off x="5535595" y="2445385"/>
            <a:ext cx="5372100" cy="361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6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B8D0-6A2E-1B6D-1BE4-A30EC2E9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6413-54C0-4B2F-1232-FE2F14A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2D Celah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9384D-4102-11D5-983F-E4F42279C9E2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02B251-1443-F282-BDF2-F0B0BF6D958C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9458CE-1D00-DEA8-F8EC-674162CD58DE}"/>
              </a:ext>
            </a:extLst>
          </p:cNvPr>
          <p:cNvSpPr txBox="1">
            <a:spLocks/>
          </p:cNvSpPr>
          <p:nvPr/>
        </p:nvSpPr>
        <p:spPr>
          <a:xfrm>
            <a:off x="990599" y="2445385"/>
            <a:ext cx="3752851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Domain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sebelumnya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saja</a:t>
            </a:r>
            <a:r>
              <a:rPr lang="en-US" sz="2400" dirty="0"/>
              <a:t> di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celah</a:t>
            </a:r>
            <a:r>
              <a:rPr lang="en-US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Hasil </a:t>
            </a:r>
            <a:r>
              <a:rPr lang="en-US" sz="2400" dirty="0" err="1"/>
              <a:t>simulasi</a:t>
            </a:r>
            <a:r>
              <a:rPr lang="en-US" sz="2400" dirty="0"/>
              <a:t>.</a:t>
            </a:r>
          </a:p>
        </p:txBody>
      </p:sp>
      <p:pic>
        <p:nvPicPr>
          <p:cNvPr id="3" name="simulasi_gelombang_celah">
            <a:hlinkClick r:id="" action="ppaction://media"/>
            <a:extLst>
              <a:ext uri="{FF2B5EF4-FFF2-40B4-BE49-F238E27FC236}">
                <a16:creationId xmlns:a16="http://schemas.microsoft.com/office/drawing/2014/main" id="{5D390A4C-649F-17A3-34D0-2A614B6BF6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69254" y="2158047"/>
            <a:ext cx="5597828" cy="419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1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B8D0-6A2E-1B6D-1BE4-A30EC2E9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6413-54C0-4B2F-1232-FE2F14A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2D Material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9384D-4102-11D5-983F-E4F42279C9E2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02B251-1443-F282-BDF2-F0B0BF6D958C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609458CE-1D00-DEA8-F8EC-674162CD58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599" y="2445385"/>
                <a:ext cx="3752851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Domain </a:t>
                </a:r>
                <a:r>
                  <a:rPr lang="en-US" sz="2400" dirty="0" err="1"/>
                  <a:t>sama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seperti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sebelumnya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hanya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saja</a:t>
                </a:r>
                <a:r>
                  <a:rPr lang="en-US" sz="2400" dirty="0"/>
                  <a:t> material di </a:t>
                </a:r>
                <a:r>
                  <a:rPr lang="en-US" sz="2400" dirty="0" err="1"/>
                  <a:t>bagian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kanan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berbeda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=0,5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609458CE-1D00-DEA8-F8EC-674162CD5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2445385"/>
                <a:ext cx="3752851" cy="3985895"/>
              </a:xfrm>
              <a:prstGeom prst="rect">
                <a:avLst/>
              </a:prstGeom>
              <a:blipFill>
                <a:blip r:embed="rId2"/>
                <a:stretch>
                  <a:fillRect l="-2435" t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3F8B0AE-82B1-1B32-9F6C-E2FC1C1B3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73" r="12578"/>
          <a:stretch>
            <a:fillRect/>
          </a:stretch>
        </p:blipFill>
        <p:spPr>
          <a:xfrm>
            <a:off x="5791200" y="2292985"/>
            <a:ext cx="5159840" cy="388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8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B8D0-6A2E-1B6D-1BE4-A30EC2E9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6413-54C0-4B2F-1232-FE2F14A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2D Celah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9384D-4102-11D5-983F-E4F42279C9E2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02B251-1443-F282-BDF2-F0B0BF6D958C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609458CE-1D00-DEA8-F8EC-674162CD58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599" y="2445385"/>
                <a:ext cx="3752851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Domain </a:t>
                </a:r>
                <a:r>
                  <a:rPr lang="en-US" sz="2400" dirty="0" err="1"/>
                  <a:t>sama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seperti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sebelumnya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hanya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saja</a:t>
                </a:r>
                <a:r>
                  <a:rPr lang="en-US" sz="2400" dirty="0"/>
                  <a:t> material di </a:t>
                </a:r>
                <a:r>
                  <a:rPr lang="en-US" sz="2400" dirty="0" err="1"/>
                  <a:t>bagian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kanan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berbeda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=0,5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Hasil </a:t>
                </a:r>
                <a:r>
                  <a:rPr lang="en-US" sz="2400" dirty="0" err="1"/>
                  <a:t>simulasi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609458CE-1D00-DEA8-F8EC-674162CD5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2445385"/>
                <a:ext cx="3752851" cy="3985895"/>
              </a:xfrm>
              <a:prstGeom prst="rect">
                <a:avLst/>
              </a:prstGeom>
              <a:blipFill>
                <a:blip r:embed="rId4"/>
                <a:stretch>
                  <a:fillRect l="-2435" t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simulasi_gelombang_beda_material">
            <a:hlinkClick r:id="" action="ppaction://media"/>
            <a:extLst>
              <a:ext uri="{FF2B5EF4-FFF2-40B4-BE49-F238E27FC236}">
                <a16:creationId xmlns:a16="http://schemas.microsoft.com/office/drawing/2014/main" id="{0F8648DA-F4C4-5E3C-77F0-81694EE4B9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02604" y="2061418"/>
            <a:ext cx="5726668" cy="429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3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B8D0-6A2E-1B6D-1BE4-A30EC2E9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6413-54C0-4B2F-1232-FE2F14A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1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9384D-4102-11D5-983F-E4F42279C9E2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02B251-1443-F282-BDF2-F0B0BF6D958C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609458CE-1D00-DEA8-F8EC-674162CD58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599" y="2445385"/>
                <a:ext cx="3467101" cy="38334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Buatlah </a:t>
                </a:r>
                <a:r>
                  <a:rPr lang="en-US" sz="2400" dirty="0" err="1"/>
                  <a:t>simulasi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gelombang</a:t>
                </a:r>
                <a:r>
                  <a:rPr lang="en-US" sz="2400" dirty="0"/>
                  <a:t> di domain 100x200 yang </a:t>
                </a:r>
                <a:r>
                  <a:rPr lang="en-US" sz="2400" dirty="0" err="1"/>
                  <a:t>memiliki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tiga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celah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lebar</a:t>
                </a:r>
                <a:r>
                  <a:rPr lang="en-US" sz="2400" dirty="0"/>
                  <a:t> 10 di (50, 30), (50,50), (50,70) dan </a:t>
                </a:r>
                <a:r>
                  <a:rPr lang="en-US" sz="2400" dirty="0" err="1"/>
                  <a:t>sumber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gelombang</a:t>
                </a:r>
                <a:r>
                  <a:rPr lang="en-US" sz="2400" dirty="0"/>
                  <a:t> (25, 50). Material </a:t>
                </a:r>
                <a:r>
                  <a:rPr lang="en-US" sz="2400" dirty="0" err="1"/>
                  <a:t>memilik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609458CE-1D00-DEA8-F8EC-674162CD5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2445385"/>
                <a:ext cx="3467101" cy="3833495"/>
              </a:xfrm>
              <a:prstGeom prst="rect">
                <a:avLst/>
              </a:prstGeom>
              <a:blipFill>
                <a:blip r:embed="rId2"/>
                <a:stretch>
                  <a:fillRect l="-2636" t="-1113" b="-1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3A0814-2AAE-3189-616D-F5AA3A7B3B2E}"/>
              </a:ext>
            </a:extLst>
          </p:cNvPr>
          <p:cNvCxnSpPr>
            <a:cxnSpLocks/>
          </p:cNvCxnSpPr>
          <p:nvPr/>
        </p:nvCxnSpPr>
        <p:spPr>
          <a:xfrm>
            <a:off x="7991475" y="1704182"/>
            <a:ext cx="0" cy="41032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650FD3C-A5C7-C292-2273-609FA5F79F7C}"/>
              </a:ext>
            </a:extLst>
          </p:cNvPr>
          <p:cNvSpPr/>
          <p:nvPr/>
        </p:nvSpPr>
        <p:spPr>
          <a:xfrm>
            <a:off x="7810500" y="3672523"/>
            <a:ext cx="361950" cy="114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C0317C-52B5-8A62-93CC-586020CB5D04}"/>
              </a:ext>
            </a:extLst>
          </p:cNvPr>
          <p:cNvSpPr/>
          <p:nvPr/>
        </p:nvSpPr>
        <p:spPr>
          <a:xfrm>
            <a:off x="7810500" y="4739958"/>
            <a:ext cx="361950" cy="114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D67D8E-602C-0233-6155-82E6623A45CB}"/>
              </a:ext>
            </a:extLst>
          </p:cNvPr>
          <p:cNvSpPr/>
          <p:nvPr/>
        </p:nvSpPr>
        <p:spPr>
          <a:xfrm>
            <a:off x="4743450" y="1704182"/>
            <a:ext cx="6324600" cy="410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97C672-C967-26E8-2FC4-2EEC503118A6}"/>
              </a:ext>
            </a:extLst>
          </p:cNvPr>
          <p:cNvSpPr/>
          <p:nvPr/>
        </p:nvSpPr>
        <p:spPr>
          <a:xfrm>
            <a:off x="7810500" y="2549050"/>
            <a:ext cx="361950" cy="114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9F30E1-9D81-9645-23A3-C9F23BEB0874}"/>
              </a:ext>
            </a:extLst>
          </p:cNvPr>
          <p:cNvSpPr/>
          <p:nvPr/>
        </p:nvSpPr>
        <p:spPr>
          <a:xfrm>
            <a:off x="5542914" y="3693715"/>
            <a:ext cx="124143" cy="1241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6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9EB6-9293-35F7-AAD9-23200C07B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8D69A4-C7A0-5C99-64CC-3709DDFAE076}"/>
              </a:ext>
            </a:extLst>
          </p:cNvPr>
          <p:cNvSpPr/>
          <p:nvPr/>
        </p:nvSpPr>
        <p:spPr>
          <a:xfrm>
            <a:off x="4733926" y="4133850"/>
            <a:ext cx="6342972" cy="1673543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46D0AB-F5F6-B544-5B4D-E0EF25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2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47037-BADA-BDB9-EBEB-F96E0C8183B6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99AB09-F10A-09D7-578B-E91E83159C6B}"/>
              </a:ext>
            </a:extLst>
          </p:cNvPr>
          <p:cNvSpPr txBox="1">
            <a:spLocks/>
          </p:cNvSpPr>
          <p:nvPr/>
        </p:nvSpPr>
        <p:spPr>
          <a:xfrm>
            <a:off x="847047" y="2317750"/>
            <a:ext cx="3606159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F3FEC5B-D9C1-BDA5-D376-67A9AEE36B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599" y="2445385"/>
                <a:ext cx="3467101" cy="38334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Buatlah </a:t>
                </a:r>
                <a:r>
                  <a:rPr lang="en-US" sz="2400" dirty="0" err="1"/>
                  <a:t>simulasi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gelombang</a:t>
                </a:r>
                <a:r>
                  <a:rPr lang="en-US" sz="2400" dirty="0"/>
                  <a:t> di domain 100x200 yang </a:t>
                </a:r>
                <a:r>
                  <a:rPr lang="en-US" sz="2400" dirty="0" err="1"/>
                  <a:t>celah</a:t>
                </a:r>
                <a:r>
                  <a:rPr lang="en-US" sz="2400" dirty="0"/>
                  <a:t> dan </a:t>
                </a:r>
                <a:r>
                  <a:rPr lang="en-US" sz="2400" dirty="0" err="1"/>
                  <a:t>posisi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sumber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gelombang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sama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sebelumnya</a:t>
                </a:r>
                <a:r>
                  <a:rPr lang="en-US" sz="2400" dirty="0"/>
                  <a:t>. Hanya </a:t>
                </a:r>
                <a:r>
                  <a:rPr lang="en-US" sz="2400" dirty="0" err="1"/>
                  <a:t>saja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ada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tiga</a:t>
                </a:r>
                <a:r>
                  <a:rPr lang="en-US" sz="2400" dirty="0"/>
                  <a:t> material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nilai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dan </a:t>
                </a:r>
                <a:r>
                  <a:rPr lang="en-US" sz="2400" dirty="0" err="1"/>
                  <a:t>posisi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sesuai</a:t>
                </a:r>
                <a:r>
                  <a:rPr lang="en-US" sz="2400" dirty="0"/>
                  <a:t> di </a:t>
                </a:r>
                <a:r>
                  <a:rPr lang="en-US" sz="2400" dirty="0" err="1"/>
                  <a:t>gambar</a:t>
                </a:r>
                <a:r>
                  <a:rPr lang="en-US" sz="2400" dirty="0"/>
                  <a:t>. Ini </a:t>
                </a:r>
                <a:r>
                  <a:rPr lang="en-US" sz="2400" dirty="0" err="1"/>
                  <a:t>adalah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simulasi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sederhana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gelombang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seismik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point </a:t>
                </a:r>
                <a:r>
                  <a:rPr lang="en-US" sz="2400"/>
                  <a:t>source.</a:t>
                </a:r>
                <a:endParaRPr lang="en-US" sz="24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F3FEC5B-D9C1-BDA5-D376-67A9AEE36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2445385"/>
                <a:ext cx="3467101" cy="3833495"/>
              </a:xfrm>
              <a:prstGeom prst="rect">
                <a:avLst/>
              </a:prstGeom>
              <a:blipFill>
                <a:blip r:embed="rId2"/>
                <a:stretch>
                  <a:fillRect l="-2109" t="-2703" r="-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286E571-F306-DD55-446B-6F98001D613D}"/>
              </a:ext>
            </a:extLst>
          </p:cNvPr>
          <p:cNvSpPr/>
          <p:nvPr/>
        </p:nvSpPr>
        <p:spPr>
          <a:xfrm>
            <a:off x="4743450" y="1704182"/>
            <a:ext cx="6324600" cy="410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26C5A0-7EE5-F5BD-0918-6E9426A8BBD3}"/>
              </a:ext>
            </a:extLst>
          </p:cNvPr>
          <p:cNvSpPr/>
          <p:nvPr/>
        </p:nvSpPr>
        <p:spPr>
          <a:xfrm>
            <a:off x="5542914" y="5166280"/>
            <a:ext cx="124143" cy="1241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EDB77-A274-544F-D017-AC47BC236A5A}"/>
              </a:ext>
            </a:extLst>
          </p:cNvPr>
          <p:cNvSpPr/>
          <p:nvPr/>
        </p:nvSpPr>
        <p:spPr>
          <a:xfrm>
            <a:off x="4743450" y="1704183"/>
            <a:ext cx="6324599" cy="24296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DBB4C8-CFFB-D201-BE3E-41D6302A7E13}"/>
                  </a:ext>
                </a:extLst>
              </p:cNvPr>
              <p:cNvSpPr txBox="1"/>
              <p:nvPr/>
            </p:nvSpPr>
            <p:spPr>
              <a:xfrm>
                <a:off x="6525295" y="4440259"/>
                <a:ext cx="589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DBB4C8-CFFB-D201-BE3E-41D6302A7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295" y="4440259"/>
                <a:ext cx="589200" cy="276999"/>
              </a:xfrm>
              <a:prstGeom prst="rect">
                <a:avLst/>
              </a:prstGeom>
              <a:blipFill>
                <a:blip r:embed="rId3"/>
                <a:stretch>
                  <a:fillRect l="-6186" r="-1030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C83958-0D89-3230-2A96-928337DAE0E8}"/>
                  </a:ext>
                </a:extLst>
              </p:cNvPr>
              <p:cNvSpPr txBox="1"/>
              <p:nvPr/>
            </p:nvSpPr>
            <p:spPr>
              <a:xfrm>
                <a:off x="5345270" y="3152001"/>
                <a:ext cx="8937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C83958-0D89-3230-2A96-928337DAE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270" y="3152001"/>
                <a:ext cx="893771" cy="276999"/>
              </a:xfrm>
              <a:prstGeom prst="rect">
                <a:avLst/>
              </a:prstGeom>
              <a:blipFill>
                <a:blip r:embed="rId4"/>
                <a:stretch>
                  <a:fillRect l="-4110" r="-753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14E51F-470D-F628-E425-8F31D4E2453F}"/>
                  </a:ext>
                </a:extLst>
              </p:cNvPr>
              <p:cNvSpPr txBox="1"/>
              <p:nvPr/>
            </p:nvSpPr>
            <p:spPr>
              <a:xfrm>
                <a:off x="4341825" y="5089851"/>
                <a:ext cx="3029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14E51F-470D-F628-E425-8F31D4E24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825" y="5089851"/>
                <a:ext cx="302968" cy="276999"/>
              </a:xfrm>
              <a:prstGeom prst="rect">
                <a:avLst/>
              </a:prstGeom>
              <a:blipFill>
                <a:blip r:embed="rId5"/>
                <a:stretch>
                  <a:fillRect l="-18000" r="-2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11FB30-AF9E-5DBD-681B-2B9BBE23B72B}"/>
                  </a:ext>
                </a:extLst>
              </p:cNvPr>
              <p:cNvSpPr txBox="1"/>
              <p:nvPr/>
            </p:nvSpPr>
            <p:spPr>
              <a:xfrm>
                <a:off x="11201401" y="3995350"/>
                <a:ext cx="3029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11FB30-AF9E-5DBD-681B-2B9BBE23B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1401" y="3995350"/>
                <a:ext cx="302968" cy="276999"/>
              </a:xfrm>
              <a:prstGeom prst="rect">
                <a:avLst/>
              </a:prstGeom>
              <a:blipFill>
                <a:blip r:embed="rId6"/>
                <a:stretch>
                  <a:fillRect l="-20408" r="-2040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2DA59D1E-7D94-0D3A-5F78-144676002DD7}"/>
              </a:ext>
            </a:extLst>
          </p:cNvPr>
          <p:cNvSpPr/>
          <p:nvPr/>
        </p:nvSpPr>
        <p:spPr>
          <a:xfrm>
            <a:off x="8362950" y="2523579"/>
            <a:ext cx="2095500" cy="7669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E4E27B-B56F-77CD-9A35-5B7A7D0B602C}"/>
                  </a:ext>
                </a:extLst>
              </p:cNvPr>
              <p:cNvSpPr txBox="1"/>
              <p:nvPr/>
            </p:nvSpPr>
            <p:spPr>
              <a:xfrm>
                <a:off x="9149436" y="2768539"/>
                <a:ext cx="5891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E4E27B-B56F-77CD-9A35-5B7A7D0B6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436" y="2768539"/>
                <a:ext cx="589199" cy="276999"/>
              </a:xfrm>
              <a:prstGeom prst="rect">
                <a:avLst/>
              </a:prstGeom>
              <a:blipFill>
                <a:blip r:embed="rId7"/>
                <a:stretch>
                  <a:fillRect l="-6186" r="-927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1C2EE8-27DF-7D4B-6516-4A1C936F6676}"/>
                  </a:ext>
                </a:extLst>
              </p:cNvPr>
              <p:cNvSpPr txBox="1"/>
              <p:nvPr/>
            </p:nvSpPr>
            <p:spPr>
              <a:xfrm>
                <a:off x="11116257" y="3152001"/>
                <a:ext cx="3029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1C2EE8-27DF-7D4B-6516-4A1C936F6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257" y="3152001"/>
                <a:ext cx="302967" cy="276999"/>
              </a:xfrm>
              <a:prstGeom prst="rect">
                <a:avLst/>
              </a:prstGeom>
              <a:blipFill>
                <a:blip r:embed="rId8"/>
                <a:stretch>
                  <a:fillRect l="-20408" r="-2244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73EAF2-AA64-0BB7-B4BB-E18B974A2D01}"/>
                  </a:ext>
                </a:extLst>
              </p:cNvPr>
              <p:cNvSpPr txBox="1"/>
              <p:nvPr/>
            </p:nvSpPr>
            <p:spPr>
              <a:xfrm>
                <a:off x="10306966" y="5924550"/>
                <a:ext cx="3029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73EAF2-AA64-0BB7-B4BB-E18B974A2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966" y="5924550"/>
                <a:ext cx="302968" cy="276999"/>
              </a:xfrm>
              <a:prstGeom prst="rect">
                <a:avLst/>
              </a:prstGeom>
              <a:blipFill>
                <a:blip r:embed="rId9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F47D12-64B0-44B4-AC0E-79CE86734672}"/>
              </a:ext>
            </a:extLst>
          </p:cNvPr>
          <p:cNvCxnSpPr/>
          <p:nvPr/>
        </p:nvCxnSpPr>
        <p:spPr>
          <a:xfrm>
            <a:off x="8362950" y="3290500"/>
            <a:ext cx="0" cy="2516893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EBC8D8-579F-39FA-CAF7-88B985B892BA}"/>
              </a:ext>
            </a:extLst>
          </p:cNvPr>
          <p:cNvCxnSpPr/>
          <p:nvPr/>
        </p:nvCxnSpPr>
        <p:spPr>
          <a:xfrm>
            <a:off x="10458450" y="3290500"/>
            <a:ext cx="0" cy="2516893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0C9E7-6F53-B969-02B4-C9E176651104}"/>
              </a:ext>
            </a:extLst>
          </p:cNvPr>
          <p:cNvCxnSpPr>
            <a:cxnSpLocks/>
          </p:cNvCxnSpPr>
          <p:nvPr/>
        </p:nvCxnSpPr>
        <p:spPr>
          <a:xfrm>
            <a:off x="10458450" y="3290182"/>
            <a:ext cx="618447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77C228-E914-48AB-768B-F6CC97F0DA2C}"/>
              </a:ext>
            </a:extLst>
          </p:cNvPr>
          <p:cNvCxnSpPr>
            <a:cxnSpLocks/>
          </p:cNvCxnSpPr>
          <p:nvPr/>
        </p:nvCxnSpPr>
        <p:spPr>
          <a:xfrm>
            <a:off x="10458450" y="2523579"/>
            <a:ext cx="618447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C1A208-4F28-E12F-A4AA-D8F3D47C104E}"/>
                  </a:ext>
                </a:extLst>
              </p:cNvPr>
              <p:cNvSpPr txBox="1"/>
              <p:nvPr/>
            </p:nvSpPr>
            <p:spPr>
              <a:xfrm>
                <a:off x="11116257" y="2385079"/>
                <a:ext cx="3029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C1A208-4F28-E12F-A4AA-D8F3D47C1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257" y="2385079"/>
                <a:ext cx="302968" cy="276999"/>
              </a:xfrm>
              <a:prstGeom prst="rect">
                <a:avLst/>
              </a:prstGeom>
              <a:blipFill>
                <a:blip r:embed="rId10"/>
                <a:stretch>
                  <a:fillRect l="-20408" r="-2040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C95C57-A0B5-C511-50F4-589901F5784B}"/>
                  </a:ext>
                </a:extLst>
              </p:cNvPr>
              <p:cNvSpPr txBox="1"/>
              <p:nvPr/>
            </p:nvSpPr>
            <p:spPr>
              <a:xfrm>
                <a:off x="8198199" y="5924550"/>
                <a:ext cx="3029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C95C57-A0B5-C511-50F4-589901F57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199" y="5924550"/>
                <a:ext cx="302967" cy="276999"/>
              </a:xfrm>
              <a:prstGeom prst="rect">
                <a:avLst/>
              </a:prstGeom>
              <a:blipFill>
                <a:blip r:embed="rId11"/>
                <a:stretch>
                  <a:fillRect l="-20000" r="-18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278C695-A67C-30EA-C2F4-4AB93A75E062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5604986" y="5290423"/>
            <a:ext cx="8848" cy="51697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F58F3AC-AF0A-B2A6-9DA8-FB9D877AF674}"/>
              </a:ext>
            </a:extLst>
          </p:cNvPr>
          <p:cNvCxnSpPr>
            <a:cxnSpLocks/>
          </p:cNvCxnSpPr>
          <p:nvPr/>
        </p:nvCxnSpPr>
        <p:spPr>
          <a:xfrm flipH="1">
            <a:off x="4733925" y="5220891"/>
            <a:ext cx="85292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5A429A-D9A0-8BE4-AA7D-F5C2341622D6}"/>
                  </a:ext>
                </a:extLst>
              </p:cNvPr>
              <p:cNvSpPr txBox="1"/>
              <p:nvPr/>
            </p:nvSpPr>
            <p:spPr>
              <a:xfrm>
                <a:off x="5453501" y="5908109"/>
                <a:ext cx="3029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5A429A-D9A0-8BE4-AA7D-F5C234162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501" y="5908109"/>
                <a:ext cx="302968" cy="276999"/>
              </a:xfrm>
              <a:prstGeom prst="rect">
                <a:avLst/>
              </a:prstGeom>
              <a:blipFill>
                <a:blip r:embed="rId12"/>
                <a:stretch>
                  <a:fillRect l="-20408" r="-2040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44066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UM 2025 v.1.0">
  <a:themeElements>
    <a:clrScheme name="Pedoman Warna UM">
      <a:dk1>
        <a:srgbClr val="000000"/>
      </a:dk1>
      <a:lt1>
        <a:srgbClr val="FFFFFF"/>
      </a:lt1>
      <a:dk2>
        <a:srgbClr val="022060"/>
      </a:dk2>
      <a:lt2>
        <a:srgbClr val="FFFFFF"/>
      </a:lt2>
      <a:accent1>
        <a:srgbClr val="022060"/>
      </a:accent1>
      <a:accent2>
        <a:srgbClr val="46589B"/>
      </a:accent2>
      <a:accent3>
        <a:srgbClr val="AAD037"/>
      </a:accent3>
      <a:accent4>
        <a:srgbClr val="FBED27"/>
      </a:accent4>
      <a:accent5>
        <a:srgbClr val="1B86C5"/>
      </a:accent5>
      <a:accent6>
        <a:srgbClr val="4BA3C8"/>
      </a:accent6>
      <a:hlink>
        <a:srgbClr val="1B86C5"/>
      </a:hlink>
      <a:folHlink>
        <a:srgbClr val="1B86C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UM 2025 v.1.0" id="{772F35EB-5A7E-4E4B-A119-A5FEF8273392}" vid="{E654A2FE-0AB2-4C21-80B3-FABBC7DB85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UM 2025 v.1.0</Template>
  <TotalTime>5500</TotalTime>
  <Words>376</Words>
  <Application>Microsoft Office PowerPoint</Application>
  <PresentationFormat>Widescreen</PresentationFormat>
  <Paragraphs>58</Paragraphs>
  <Slides>11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Montserrat</vt:lpstr>
      <vt:lpstr>PowerPoint UM 2025 v.1.0</vt:lpstr>
      <vt:lpstr>Komputasi Persamaan Differensial Parsial Hiperbolik</vt:lpstr>
      <vt:lpstr>Simulasi Gelombang 2D</vt:lpstr>
      <vt:lpstr>Simulasi Gelombang 2D</vt:lpstr>
      <vt:lpstr>Simulasi Gelombang 2D</vt:lpstr>
      <vt:lpstr>Simulasi Gelombang 2D</vt:lpstr>
      <vt:lpstr>Simulasi Gelombang 2D Celah</vt:lpstr>
      <vt:lpstr>Simulasi Gelombang 2D Celah</vt:lpstr>
      <vt:lpstr>Simulasi Gelombang 2D Material</vt:lpstr>
      <vt:lpstr>Simulasi Gelombang 2D Celah</vt:lpstr>
      <vt:lpstr>Tugas 1</vt:lpstr>
      <vt:lpstr>Tugas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yoyok.adisetio</dc:creator>
  <cp:lastModifiedBy>yoyok.adisetio</cp:lastModifiedBy>
  <cp:revision>144</cp:revision>
  <cp:lastPrinted>2025-11-05T05:02:10Z</cp:lastPrinted>
  <dcterms:created xsi:type="dcterms:W3CDTF">2025-10-02T02:43:41Z</dcterms:created>
  <dcterms:modified xsi:type="dcterms:W3CDTF">2025-11-12T06:11:28Z</dcterms:modified>
</cp:coreProperties>
</file>