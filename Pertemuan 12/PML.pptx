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50" r:id="rId3"/>
    <p:sldId id="257" r:id="rId4"/>
    <p:sldId id="351" r:id="rId5"/>
    <p:sldId id="352" r:id="rId6"/>
    <p:sldId id="353" r:id="rId7"/>
    <p:sldId id="355" r:id="rId8"/>
    <p:sldId id="356" r:id="rId9"/>
    <p:sldId id="357" r:id="rId10"/>
    <p:sldId id="354" r:id="rId11"/>
    <p:sldId id="358" r:id="rId1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1234-2A88-AE76-19A4-0D575D1A8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22A40-1FDA-E7BF-697B-F39B8D619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253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D55B-B53D-0150-9368-BF10BD69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2B55B-D286-63E5-0A56-95862953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62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8EBE-FC99-5BDC-A95D-F8E08ADC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840" y="365125"/>
            <a:ext cx="7457440" cy="1325563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03567-8C49-3F5A-BF54-ADA3205C8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509000" cy="435133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00141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D51E-087B-6394-FFC7-AAAF250C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45"/>
            <a:ext cx="10515600" cy="1325563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552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AB19-D5D7-F74D-D991-A71308B6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8880"/>
            <a:ext cx="10515600" cy="959168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DA37-47C4-F2E7-87BD-6B1E36DA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2985"/>
            <a:ext cx="10515600" cy="3985895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744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1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AB01-23C3-2991-F1F9-C6558413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3803-0C08-3951-5C04-F4175A3F7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>
                <a:latin typeface="Montserrat" pitchFamily="2" charset="0"/>
              </a:defRPr>
            </a:lvl1pPr>
            <a:lvl2pPr>
              <a:defRPr sz="2800" b="0">
                <a:latin typeface="Montserrat" pitchFamily="2" charset="0"/>
              </a:defRPr>
            </a:lvl2pPr>
            <a:lvl3pPr>
              <a:defRPr sz="2400" b="0">
                <a:latin typeface="Montserrat" pitchFamily="2" charset="0"/>
              </a:defRPr>
            </a:lvl3pPr>
            <a:lvl4pPr>
              <a:defRPr sz="2000" b="0">
                <a:latin typeface="Montserrat" pitchFamily="2" charset="0"/>
              </a:defRPr>
            </a:lvl4pPr>
            <a:lvl5pPr>
              <a:defRPr sz="2000" b="0">
                <a:latin typeface="Montserrat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CC01B-0640-F9D7-ABA3-4AC9AABD8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EBB0-2A30-80B3-E4A5-7DEE86A0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9A4C7-808D-9DC3-2D93-43EA0E01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66351-A966-9298-589E-743FD071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447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DE9A-B6DE-C41B-0FC2-FDE7750D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35593-5246-23C7-F11A-E38C43D8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3243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045DC-A18F-2297-79C9-10790E9C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48336-2C92-1972-6975-26D2A9E78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691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aint in motion from the bottom of the view">
            <a:extLst>
              <a:ext uri="{FF2B5EF4-FFF2-40B4-BE49-F238E27FC236}">
                <a16:creationId xmlns:a16="http://schemas.microsoft.com/office/drawing/2014/main" id="{D81D5B29-DB1A-F31F-BE34-3A17BDDB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1"/>
          <a:stretch>
            <a:fillRect/>
          </a:stretch>
        </p:blipFill>
        <p:spPr>
          <a:xfrm>
            <a:off x="575786" y="1318170"/>
            <a:ext cx="7850188" cy="4415716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9C084-D47D-EDED-A59D-48C6A16E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885487" cy="2238376"/>
          </a:xfrm>
        </p:spPr>
        <p:txBody>
          <a:bodyPr anchor="b">
            <a:normAutofit/>
          </a:bodyPr>
          <a:lstStyle/>
          <a:p>
            <a:r>
              <a:rPr lang="en-US" sz="3600" dirty="0"/>
              <a:t>Perfectly Matches Layer</a:t>
            </a:r>
            <a:endParaRPr lang="en-ID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829E7-A2A3-FC4E-6A49-106DA6FD1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364" y="2876550"/>
            <a:ext cx="3865562" cy="2992438"/>
          </a:xfrm>
        </p:spPr>
        <p:txBody>
          <a:bodyPr>
            <a:normAutofit/>
          </a:bodyPr>
          <a:lstStyle/>
          <a:p>
            <a:r>
              <a:rPr lang="pt-BR" sz="2400" dirty="0"/>
              <a:t>Yoyok Adisetio Laksono</a:t>
            </a:r>
            <a:br>
              <a:rPr lang="en-US" sz="2400" dirty="0"/>
            </a:br>
            <a:r>
              <a:rPr lang="en-US" sz="2400" dirty="0" err="1"/>
              <a:t>Departemen</a:t>
            </a:r>
            <a:r>
              <a:rPr lang="en-US" sz="2400" dirty="0"/>
              <a:t> Fisika</a:t>
            </a:r>
            <a:br>
              <a:rPr lang="en-US" sz="2400" dirty="0"/>
            </a:br>
            <a:r>
              <a:rPr lang="en-US" sz="2400" dirty="0" err="1"/>
              <a:t>FMIPA</a:t>
            </a:r>
            <a:r>
              <a:rPr lang="en-US" sz="2400" dirty="0"/>
              <a:t> UM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6825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D37D-C208-03B3-7368-2B3A6F90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F9D1-08A0-E499-1C8C-0709624B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F2DE-28FF-2D8F-7ED9-EE8CACB8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2985"/>
            <a:ext cx="4724400" cy="398589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D" sz="2400" dirty="0"/>
              <a:t>Dalam </a:t>
            </a:r>
            <a:r>
              <a:rPr lang="en-ID" sz="2400" dirty="0" err="1"/>
              <a:t>simulasi</a:t>
            </a:r>
            <a:r>
              <a:rPr lang="en-ID" sz="2400" dirty="0"/>
              <a:t> </a:t>
            </a:r>
            <a:r>
              <a:rPr lang="en-ID" sz="2400" dirty="0" err="1"/>
              <a:t>gelombang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 </a:t>
            </a:r>
            <a:r>
              <a:rPr lang="en-ID" sz="2400" dirty="0" err="1"/>
              <a:t>lihat</a:t>
            </a:r>
            <a:r>
              <a:rPr lang="en-ID" sz="2400" dirty="0"/>
              <a:t> </a:t>
            </a:r>
            <a:r>
              <a:rPr lang="en-ID" sz="2400" dirty="0" err="1"/>
              <a:t>hasilnya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komputasi</a:t>
            </a:r>
            <a:r>
              <a:rPr lang="en-ID" sz="2400" dirty="0"/>
              <a:t> </a:t>
            </a:r>
            <a:r>
              <a:rPr lang="en-ID" sz="2400" dirty="0" err="1"/>
              <a:t>berlangsung</a:t>
            </a:r>
            <a:r>
              <a:rPr lang="en-ID" sz="2400" dirty="0"/>
              <a:t> lama </a:t>
            </a:r>
            <a:r>
              <a:rPr lang="en-ID" sz="2400" dirty="0" err="1"/>
              <a:t>maka</a:t>
            </a:r>
            <a:r>
              <a:rPr lang="en-ID" sz="2400" dirty="0"/>
              <a:t> </a:t>
            </a:r>
            <a:r>
              <a:rPr lang="en-ID" sz="2400" dirty="0" err="1"/>
              <a:t>gelombang</a:t>
            </a:r>
            <a:r>
              <a:rPr lang="en-ID" sz="2400" dirty="0"/>
              <a:t> </a:t>
            </a:r>
            <a:r>
              <a:rPr lang="en-ID" sz="2400" dirty="0" err="1"/>
              <a:t>terperangkap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domain dan </a:t>
            </a:r>
            <a:r>
              <a:rPr lang="en-ID" sz="2400" dirty="0" err="1"/>
              <a:t>terpantul</a:t>
            </a:r>
            <a:r>
              <a:rPr lang="en-ID" sz="2400" dirty="0"/>
              <a:t>.</a:t>
            </a:r>
          </a:p>
          <a:p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E95ED-D4C1-FAE0-7DD2-29B3CC26F85D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54840-C561-E958-0FB4-F4849D632F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66" t="5294" r="21016"/>
          <a:stretch>
            <a:fillRect/>
          </a:stretch>
        </p:blipFill>
        <p:spPr>
          <a:xfrm>
            <a:off x="6406057" y="1709349"/>
            <a:ext cx="4947743" cy="46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3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8228-6F05-D5AE-3DD4-4D8BC8FD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7D144-0E2D-3F4A-FCB3-C443D0419D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292985"/>
                <a:ext cx="6524626" cy="398589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D" sz="2400" dirty="0"/>
                  <a:t>Dalam </a:t>
                </a:r>
                <a:r>
                  <a:rPr lang="en-ID" sz="2400" dirty="0" err="1"/>
                  <a:t>kenyataan</a:t>
                </a:r>
                <a:r>
                  <a:rPr lang="en-ID" sz="2400" dirty="0"/>
                  <a:t> di </a:t>
                </a:r>
                <a:r>
                  <a:rPr lang="en-ID" sz="2400" dirty="0" err="1"/>
                  <a:t>alam</a:t>
                </a:r>
                <a:r>
                  <a:rPr lang="en-ID" sz="2400" dirty="0"/>
                  <a:t>, domain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 </a:t>
                </a:r>
                <a:r>
                  <a:rPr lang="en-ID" sz="2400" b="1" dirty="0" err="1"/>
                  <a:t>tak</a:t>
                </a:r>
                <a:r>
                  <a:rPr lang="en-ID" sz="2400" b="1" dirty="0"/>
                  <a:t> </a:t>
                </a:r>
                <a:r>
                  <a:rPr lang="en-ID" sz="2400" b="1" dirty="0" err="1"/>
                  <a:t>terbatas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seluas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bumi</a:t>
                </a:r>
                <a:r>
                  <a:rPr lang="en-ID" sz="24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simulasi</a:t>
                </a:r>
                <a:r>
                  <a:rPr lang="en-ID" sz="2400" dirty="0"/>
                  <a:t> 2D, </a:t>
                </a:r>
                <a:r>
                  <a:rPr lang="en-ID" sz="2400" dirty="0" err="1"/>
                  <a:t>jika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jari-jari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bumi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≈6,371×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ID" sz="2400" dirty="0"/>
                  <a:t> m diiris </a:t>
                </a:r>
                <a:r>
                  <a:rPr lang="en-ID" sz="2400" dirty="0" err="1"/>
                  <a:t>ditengah</a:t>
                </a:r>
                <a:r>
                  <a:rPr lang="en-ID" sz="2400" dirty="0"/>
                  <a:t> dan </a:t>
                </a:r>
                <a:r>
                  <a:rPr lang="en-ID" sz="2400" dirty="0" err="1"/>
                  <a:t>dicari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luasnya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besarnya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6,371×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=1,275×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D" sz="2400" dirty="0"/>
              </a:p>
              <a:p>
                <a:pPr>
                  <a:lnSpc>
                    <a:spcPct val="110000"/>
                  </a:lnSpc>
                </a:pPr>
                <a:r>
                  <a:rPr lang="en-ID" sz="2400" dirty="0"/>
                  <a:t>Jika </a:t>
                </a:r>
                <a:r>
                  <a:rPr lang="en-ID" sz="2400" dirty="0" err="1"/>
                  <a:t>luas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ini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dimasukkan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ke</a:t>
                </a:r>
                <a:r>
                  <a:rPr lang="en-ID" sz="2400" dirty="0"/>
                  <a:t> domain computer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jarak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antar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</a:t>
                </a:r>
                <a:r>
                  <a:rPr lang="en-ID" sz="2400" dirty="0"/>
                  <a:t> 1 m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diperlukan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memori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sebesar</a:t>
                </a:r>
                <a:r>
                  <a:rPr lang="en-ID" sz="2400" dirty="0"/>
                  <a:t> 510.000 Gb!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7D144-0E2D-3F4A-FCB3-C443D0419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292985"/>
                <a:ext cx="6524626" cy="3985895"/>
              </a:xfrm>
              <a:blipFill>
                <a:blip r:embed="rId2"/>
                <a:stretch>
                  <a:fillRect l="-1027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12ADEB-FF71-5848-A933-2D13958B3D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67550" y="1581150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1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51E0-15DE-A806-6129-9E6C78C7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37BE-A688-9EFB-71BB-7B6B985A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1E063-737B-1536-FA13-8E9DB9EEA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92985"/>
            <a:ext cx="6524626" cy="398589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dua </a:t>
            </a:r>
            <a:r>
              <a:rPr lang="en-US" sz="2400" dirty="0" err="1"/>
              <a:t>cara</a:t>
            </a:r>
            <a:r>
              <a:rPr lang="en-US" sz="2400" dirty="0"/>
              <a:t>: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/>
              <a:t>Domain </a:t>
            </a:r>
            <a:r>
              <a:rPr lang="en-US" sz="2000" b="1" dirty="0" err="1"/>
              <a:t>diperluas</a:t>
            </a:r>
            <a:r>
              <a:rPr lang="en-US" sz="2000" b="1" dirty="0"/>
              <a:t> </a:t>
            </a:r>
            <a:r>
              <a:rPr lang="en-US" sz="2000" b="1" dirty="0" err="1"/>
              <a:t>sesuai</a:t>
            </a:r>
            <a:r>
              <a:rPr lang="en-US" sz="2000" b="1" dirty="0"/>
              <a:t> </a:t>
            </a:r>
            <a:r>
              <a:rPr lang="en-US" sz="2000" b="1" dirty="0" err="1"/>
              <a:t>dengan</a:t>
            </a:r>
            <a:r>
              <a:rPr lang="en-US" sz="2000" b="1" dirty="0"/>
              <a:t> </a:t>
            </a:r>
            <a:r>
              <a:rPr lang="en-US" sz="2000" b="1" dirty="0" err="1"/>
              <a:t>waktu</a:t>
            </a:r>
            <a:r>
              <a:rPr lang="en-US" sz="2000" b="1" dirty="0"/>
              <a:t> </a:t>
            </a:r>
            <a:r>
              <a:rPr lang="en-US" sz="2000" b="1" dirty="0" err="1"/>
              <a:t>komputasi</a:t>
            </a:r>
            <a:r>
              <a:rPr lang="en-US" sz="2000" dirty="0"/>
              <a:t> </a:t>
            </a:r>
            <a:r>
              <a:rPr lang="en-US" sz="2000" dirty="0" err="1"/>
              <a:t>sedemikian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pantulan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kembali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domain yang </a:t>
            </a:r>
            <a:r>
              <a:rPr lang="en-US" sz="2000" dirty="0" err="1"/>
              <a:t>diteliti</a:t>
            </a:r>
            <a:r>
              <a:rPr lang="en-US" sz="2000" dirty="0"/>
              <a:t>.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/>
              <a:t>Membuat</a:t>
            </a:r>
            <a:r>
              <a:rPr lang="en-US" sz="2000" dirty="0"/>
              <a:t> </a:t>
            </a:r>
            <a:r>
              <a:rPr lang="en-US" sz="2000" b="1" dirty="0" err="1"/>
              <a:t>lapisan</a:t>
            </a:r>
            <a:r>
              <a:rPr lang="en-US" sz="2000" b="1" dirty="0"/>
              <a:t> </a:t>
            </a:r>
            <a:r>
              <a:rPr lang="en-US" sz="2000" b="1" dirty="0" err="1"/>
              <a:t>penyerap</a:t>
            </a:r>
            <a:r>
              <a:rPr lang="en-US" sz="2000" dirty="0"/>
              <a:t> di batas domain.</a:t>
            </a:r>
            <a:endParaRPr lang="en-ID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B7E0F-53CB-56A9-BC95-B4C4D18E7D2C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26AD6A-0F9C-4E3D-1EA9-0061C50C6529}"/>
              </a:ext>
            </a:extLst>
          </p:cNvPr>
          <p:cNvSpPr/>
          <p:nvPr/>
        </p:nvSpPr>
        <p:spPr>
          <a:xfrm>
            <a:off x="7543800" y="1011872"/>
            <a:ext cx="3505200" cy="25622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D626E-A805-F489-9F5E-C5A06BC5088D}"/>
              </a:ext>
            </a:extLst>
          </p:cNvPr>
          <p:cNvSpPr/>
          <p:nvPr/>
        </p:nvSpPr>
        <p:spPr>
          <a:xfrm>
            <a:off x="8520112" y="1725534"/>
            <a:ext cx="1552575" cy="11348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2E39CDF-6FD2-56F2-EC0E-CBA21BFF9718}"/>
              </a:ext>
            </a:extLst>
          </p:cNvPr>
          <p:cNvSpPr/>
          <p:nvPr/>
        </p:nvSpPr>
        <p:spPr>
          <a:xfrm>
            <a:off x="9230278" y="2226862"/>
            <a:ext cx="132242" cy="132242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70C1A5-9BB1-44CF-2272-BB450EDDDBC6}"/>
              </a:ext>
            </a:extLst>
          </p:cNvPr>
          <p:cNvCxnSpPr>
            <a:cxnSpLocks/>
          </p:cNvCxnSpPr>
          <p:nvPr/>
        </p:nvCxnSpPr>
        <p:spPr>
          <a:xfrm>
            <a:off x="9296399" y="2284012"/>
            <a:ext cx="1752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E7ED88-DDB9-0802-9F13-9FEB02CB6B06}"/>
              </a:ext>
            </a:extLst>
          </p:cNvPr>
          <p:cNvCxnSpPr/>
          <p:nvPr/>
        </p:nvCxnSpPr>
        <p:spPr>
          <a:xfrm flipH="1">
            <a:off x="10072687" y="2421572"/>
            <a:ext cx="976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E5397C-7F64-BC7D-A1AD-CE2681703460}"/>
                  </a:ext>
                </a:extLst>
              </p:cNvPr>
              <p:cNvSpPr txBox="1"/>
              <p:nvPr/>
            </p:nvSpPr>
            <p:spPr>
              <a:xfrm>
                <a:off x="10172699" y="1971040"/>
                <a:ext cx="32098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E5397C-7F64-BC7D-A1AD-CE2681703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699" y="1971040"/>
                <a:ext cx="320985" cy="553998"/>
              </a:xfrm>
              <a:prstGeom prst="rect">
                <a:avLst/>
              </a:prstGeom>
              <a:blipFill>
                <a:blip r:embed="rId2"/>
                <a:stretch>
                  <a:fillRect l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A076C3-68B8-8075-675F-1B65195B4E71}"/>
                  </a:ext>
                </a:extLst>
              </p:cNvPr>
              <p:cNvSpPr txBox="1"/>
              <p:nvPr/>
            </p:nvSpPr>
            <p:spPr>
              <a:xfrm>
                <a:off x="10400222" y="2419844"/>
                <a:ext cx="3212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A076C3-68B8-8075-675F-1B65195B4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222" y="2419844"/>
                <a:ext cx="321242" cy="553998"/>
              </a:xfrm>
              <a:prstGeom prst="rect">
                <a:avLst/>
              </a:prstGeom>
              <a:blipFill>
                <a:blip r:embed="rId3"/>
                <a:stretch>
                  <a:fillRect l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3D1ED9AE-CF91-4E66-0F6A-194776E11D07}"/>
              </a:ext>
            </a:extLst>
          </p:cNvPr>
          <p:cNvSpPr/>
          <p:nvPr/>
        </p:nvSpPr>
        <p:spPr>
          <a:xfrm>
            <a:off x="7543800" y="3932694"/>
            <a:ext cx="3505200" cy="25622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146E52DC-242D-657C-CB79-C2517C75AA2C}"/>
              </a:ext>
            </a:extLst>
          </p:cNvPr>
          <p:cNvSpPr/>
          <p:nvPr/>
        </p:nvSpPr>
        <p:spPr>
          <a:xfrm>
            <a:off x="9230278" y="5147684"/>
            <a:ext cx="132242" cy="132242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1883A-B96C-226A-0F8B-CBDA46C92054}"/>
              </a:ext>
            </a:extLst>
          </p:cNvPr>
          <p:cNvSpPr/>
          <p:nvPr/>
        </p:nvSpPr>
        <p:spPr>
          <a:xfrm>
            <a:off x="7543800" y="3932694"/>
            <a:ext cx="3505200" cy="168057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80DE71-0D04-AB1A-4DD2-8B93B366439C}"/>
              </a:ext>
            </a:extLst>
          </p:cNvPr>
          <p:cNvSpPr/>
          <p:nvPr/>
        </p:nvSpPr>
        <p:spPr>
          <a:xfrm>
            <a:off x="7543800" y="6326713"/>
            <a:ext cx="3505200" cy="168057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29BC7E-DF07-6DC2-46C4-0DA6193E3775}"/>
              </a:ext>
            </a:extLst>
          </p:cNvPr>
          <p:cNvSpPr/>
          <p:nvPr/>
        </p:nvSpPr>
        <p:spPr>
          <a:xfrm>
            <a:off x="10916758" y="3932694"/>
            <a:ext cx="132242" cy="2562225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C25AEB-F0DD-8018-7F2A-67471519BC97}"/>
              </a:ext>
            </a:extLst>
          </p:cNvPr>
          <p:cNvSpPr/>
          <p:nvPr/>
        </p:nvSpPr>
        <p:spPr>
          <a:xfrm>
            <a:off x="7543800" y="3932694"/>
            <a:ext cx="132240" cy="2562225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1006FB-A491-C820-7C75-C1AC03A5EACD}"/>
              </a:ext>
            </a:extLst>
          </p:cNvPr>
          <p:cNvCxnSpPr/>
          <p:nvPr/>
        </p:nvCxnSpPr>
        <p:spPr>
          <a:xfrm flipH="1">
            <a:off x="7058025" y="5553075"/>
            <a:ext cx="552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925C1C3-7BA3-6041-1BF3-77C72031F1A3}"/>
              </a:ext>
            </a:extLst>
          </p:cNvPr>
          <p:cNvSpPr txBox="1"/>
          <p:nvPr/>
        </p:nvSpPr>
        <p:spPr>
          <a:xfrm>
            <a:off x="5133338" y="5368409"/>
            <a:ext cx="194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penyerap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4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BFA7-4547-8143-2741-7E1E8B60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FFA2-F02F-CAD3-186F-7EFE7DFF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F8CF-9758-AEBF-B68B-C97B7CC78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92985"/>
            <a:ext cx="6524626" cy="398589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.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/>
              <a:t>Untuk</a:t>
            </a:r>
            <a:r>
              <a:rPr lang="en-US" sz="2000" dirty="0"/>
              <a:t> domain </a:t>
            </a:r>
            <a:r>
              <a:rPr lang="en-US" sz="2000" dirty="0" err="1"/>
              <a:t>celah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batas </a:t>
            </a:r>
            <a:r>
              <a:rPr lang="en-US" sz="2000" dirty="0" err="1"/>
              <a:t>tanpa</a:t>
            </a:r>
            <a:r>
              <a:rPr lang="en-US" sz="2000" dirty="0"/>
              <a:t> </a:t>
            </a:r>
            <a:r>
              <a:rPr lang="en-US" sz="2000" dirty="0" err="1"/>
              <a:t>celah</a:t>
            </a:r>
            <a:r>
              <a:rPr lang="en-US" sz="2000" dirty="0"/>
              <a:t> </a:t>
            </a:r>
            <a:r>
              <a:rPr lang="en-US" sz="2000" dirty="0" err="1"/>
              <a:t>diperpanjang</a:t>
            </a:r>
            <a:r>
              <a:rPr lang="en-US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5AC25-C844-5D40-7DC9-46850A0221AA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879195-309C-CFAE-CCCF-C743C2BAFD99}"/>
              </a:ext>
            </a:extLst>
          </p:cNvPr>
          <p:cNvGrpSpPr/>
          <p:nvPr/>
        </p:nvGrpSpPr>
        <p:grpSpPr>
          <a:xfrm>
            <a:off x="7171200" y="2158048"/>
            <a:ext cx="4467225" cy="2790863"/>
            <a:chOff x="7848599" y="2158048"/>
            <a:chExt cx="4467225" cy="27908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A424A3-3AAC-2DE8-DD8A-CFBCA69F5541}"/>
                </a:ext>
              </a:extLst>
            </p:cNvPr>
            <p:cNvSpPr/>
            <p:nvPr/>
          </p:nvSpPr>
          <p:spPr>
            <a:xfrm>
              <a:off x="7848599" y="2158048"/>
              <a:ext cx="4467225" cy="27908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10DB3E-C8E6-55BD-1A20-DDA4C49C680E}"/>
                </a:ext>
              </a:extLst>
            </p:cNvPr>
            <p:cNvSpPr/>
            <p:nvPr/>
          </p:nvSpPr>
          <p:spPr>
            <a:xfrm>
              <a:off x="8824912" y="3006647"/>
              <a:ext cx="2395538" cy="113489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118FC-84AB-433F-0F39-1F89562D4D0F}"/>
                </a:ext>
              </a:extLst>
            </p:cNvPr>
            <p:cNvSpPr/>
            <p:nvPr/>
          </p:nvSpPr>
          <p:spPr>
            <a:xfrm>
              <a:off x="8977326" y="3507975"/>
              <a:ext cx="132242" cy="132242"/>
            </a:xfrm>
            <a:prstGeom prst="flowChartConnec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233FEE-3A92-EDA9-7FBE-EE773EB003EC}"/>
                </a:ext>
              </a:extLst>
            </p:cNvPr>
            <p:cNvCxnSpPr/>
            <p:nvPr/>
          </p:nvCxnSpPr>
          <p:spPr>
            <a:xfrm>
              <a:off x="10210800" y="2158048"/>
              <a:ext cx="0" cy="2790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1325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AE02-D67E-B9E4-C57D-2288B6B8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A9A3-9222-A036-5598-BE5B2597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896E-0132-A0F5-219C-572FFD3CD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92985"/>
            <a:ext cx="6524626" cy="398589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.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/>
              <a:t>Untuk</a:t>
            </a:r>
            <a:r>
              <a:rPr lang="en-US" sz="2000" dirty="0"/>
              <a:t> domain </a:t>
            </a:r>
            <a:r>
              <a:rPr lang="en-US" sz="2000" dirty="0" err="1"/>
              <a:t>celah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batas </a:t>
            </a:r>
            <a:r>
              <a:rPr lang="en-US" sz="2000" dirty="0" err="1"/>
              <a:t>tanpa</a:t>
            </a:r>
            <a:r>
              <a:rPr lang="en-US" sz="2000" dirty="0"/>
              <a:t> </a:t>
            </a:r>
            <a:r>
              <a:rPr lang="en-US" sz="2000" dirty="0" err="1"/>
              <a:t>celah</a:t>
            </a:r>
            <a:r>
              <a:rPr lang="en-US" sz="2000" dirty="0"/>
              <a:t> </a:t>
            </a:r>
            <a:r>
              <a:rPr lang="en-US" sz="2000" dirty="0" err="1"/>
              <a:t>diperpanjang</a:t>
            </a:r>
            <a:r>
              <a:rPr lang="en-US" sz="2000" dirty="0"/>
              <a:t>.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/>
              <a:t>Untuk</a:t>
            </a:r>
            <a:r>
              <a:rPr lang="en-US" sz="2000" dirty="0"/>
              <a:t> domain yang </a:t>
            </a:r>
            <a:r>
              <a:rPr lang="en-US" sz="2000" dirty="0" err="1"/>
              <a:t>berbeda</a:t>
            </a:r>
            <a:r>
              <a:rPr lang="en-US" sz="2000" dirty="0"/>
              <a:t> material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diperluas</a:t>
            </a:r>
            <a:r>
              <a:rPr lang="en-US" sz="2000" dirty="0"/>
              <a:t>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material yang </a:t>
            </a:r>
            <a:r>
              <a:rPr lang="en-US" sz="2000" dirty="0" err="1"/>
              <a:t>berada</a:t>
            </a:r>
            <a:r>
              <a:rPr lang="en-US" sz="2000" dirty="0"/>
              <a:t> di batas.</a:t>
            </a:r>
            <a:endParaRPr lang="en-ID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DC30C-720B-365E-0444-D12AFBAE9034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1BAB3-9689-F099-6752-D462FF14C848}"/>
              </a:ext>
            </a:extLst>
          </p:cNvPr>
          <p:cNvSpPr/>
          <p:nvPr/>
        </p:nvSpPr>
        <p:spPr>
          <a:xfrm>
            <a:off x="7172324" y="2158048"/>
            <a:ext cx="4467225" cy="27908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4F2BBE7-0BA0-3D56-B67F-2F5617DD45F2}"/>
              </a:ext>
            </a:extLst>
          </p:cNvPr>
          <p:cNvSpPr/>
          <p:nvPr/>
        </p:nvSpPr>
        <p:spPr>
          <a:xfrm>
            <a:off x="8301051" y="3507975"/>
            <a:ext cx="132242" cy="132242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4EAEED-BA88-CBB3-7AE5-812C99123989}"/>
              </a:ext>
            </a:extLst>
          </p:cNvPr>
          <p:cNvSpPr/>
          <p:nvPr/>
        </p:nvSpPr>
        <p:spPr>
          <a:xfrm>
            <a:off x="9810750" y="2158048"/>
            <a:ext cx="1828799" cy="27908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4F807-319B-A2E7-45DF-5B571B420D87}"/>
              </a:ext>
            </a:extLst>
          </p:cNvPr>
          <p:cNvSpPr/>
          <p:nvPr/>
        </p:nvSpPr>
        <p:spPr>
          <a:xfrm>
            <a:off x="8148637" y="3006647"/>
            <a:ext cx="2395538" cy="11348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2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5CD3-DC71-95F4-2D05-03FDCC85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simulasi</a:t>
            </a:r>
            <a:endParaRPr lang="en-US" dirty="0"/>
          </a:p>
        </p:txBody>
      </p:sp>
      <p:pic>
        <p:nvPicPr>
          <p:cNvPr id="4" name="simulasi_gelombang_2D_diperluas">
            <a:hlinkClick r:id="" action="ppaction://media"/>
            <a:extLst>
              <a:ext uri="{FF2B5EF4-FFF2-40B4-BE49-F238E27FC236}">
                <a16:creationId xmlns:a16="http://schemas.microsoft.com/office/drawing/2014/main" id="{F451F3EC-352C-1B67-2FA9-21F05ED3246A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4482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4175" y="2158048"/>
            <a:ext cx="5314950" cy="3986213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583594-FBF4-D7D0-0719-FE938E8C471E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524626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Waktu </a:t>
            </a:r>
            <a:r>
              <a:rPr lang="en-US" sz="2000" dirty="0" err="1"/>
              <a:t>simulasi</a:t>
            </a:r>
            <a:r>
              <a:rPr lang="en-US" sz="2000" dirty="0"/>
              <a:t> di </a:t>
            </a:r>
            <a:r>
              <a:rPr lang="en-US" sz="2000" dirty="0" err="1"/>
              <a:t>atur</a:t>
            </a:r>
            <a:r>
              <a:rPr lang="en-US" sz="2000" dirty="0"/>
              <a:t> </a:t>
            </a:r>
            <a:r>
              <a:rPr lang="en-US" sz="2000" dirty="0" err="1"/>
              <a:t>sedemikian</a:t>
            </a:r>
            <a:r>
              <a:rPr lang="en-US" sz="2000" dirty="0"/>
              <a:t> </a:t>
            </a:r>
            <a:r>
              <a:rPr lang="en-US" sz="2000" dirty="0" err="1"/>
              <a:t>rupa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berhenti</a:t>
            </a:r>
            <a:r>
              <a:rPr lang="en-US" sz="2000" dirty="0"/>
              <a:t>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pantulan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batas domain.</a:t>
            </a:r>
          </a:p>
        </p:txBody>
      </p:sp>
    </p:spTree>
    <p:extLst>
      <p:ext uri="{BB962C8B-B14F-4D97-AF65-F5344CB8AC3E}">
        <p14:creationId xmlns:p14="http://schemas.microsoft.com/office/powerpoint/2010/main" val="56872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imulasi_gelombang_celah_diperluas">
            <a:hlinkClick r:id="" action="ppaction://media"/>
            <a:extLst>
              <a:ext uri="{FF2B5EF4-FFF2-40B4-BE49-F238E27FC236}">
                <a16:creationId xmlns:a16="http://schemas.microsoft.com/office/drawing/2014/main" id="{BEF13FC1-BE8B-0CC4-4DEA-7D289461AEB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752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5600" y="2160000"/>
            <a:ext cx="5304260" cy="3978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35CD3-DC71-95F4-2D05-03FDCC85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celah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583594-FBF4-D7D0-0719-FE938E8C471E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5257801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Waktu </a:t>
            </a:r>
            <a:r>
              <a:rPr lang="en-US" sz="2000" dirty="0" err="1"/>
              <a:t>simulasi</a:t>
            </a:r>
            <a:r>
              <a:rPr lang="en-US" sz="2000" dirty="0"/>
              <a:t> di </a:t>
            </a:r>
            <a:r>
              <a:rPr lang="en-US" sz="2000" dirty="0" err="1"/>
              <a:t>atur</a:t>
            </a:r>
            <a:r>
              <a:rPr lang="en-US" sz="2000" dirty="0"/>
              <a:t> </a:t>
            </a:r>
            <a:r>
              <a:rPr lang="en-US" sz="2000" dirty="0" err="1"/>
              <a:t>sedemikian</a:t>
            </a:r>
            <a:r>
              <a:rPr lang="en-US" sz="2000" dirty="0"/>
              <a:t> </a:t>
            </a:r>
            <a:r>
              <a:rPr lang="en-US" sz="2000" dirty="0" err="1"/>
              <a:t>rupa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berhenti</a:t>
            </a:r>
            <a:r>
              <a:rPr lang="en-US" sz="2000" dirty="0"/>
              <a:t>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pantulan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batas domain.</a:t>
            </a:r>
          </a:p>
        </p:txBody>
      </p:sp>
    </p:spTree>
    <p:extLst>
      <p:ext uri="{BB962C8B-B14F-4D97-AF65-F5344CB8AC3E}">
        <p14:creationId xmlns:p14="http://schemas.microsoft.com/office/powerpoint/2010/main" val="264297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5CD3-DC71-95F4-2D05-03FDCC85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material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583594-FBF4-D7D0-0719-FE938E8C471E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5257801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Waktu </a:t>
            </a:r>
            <a:r>
              <a:rPr lang="en-US" sz="2000" dirty="0" err="1"/>
              <a:t>simulasi</a:t>
            </a:r>
            <a:r>
              <a:rPr lang="en-US" sz="2000" dirty="0"/>
              <a:t> di </a:t>
            </a:r>
            <a:r>
              <a:rPr lang="en-US" sz="2000" dirty="0" err="1"/>
              <a:t>atur</a:t>
            </a:r>
            <a:r>
              <a:rPr lang="en-US" sz="2000" dirty="0"/>
              <a:t> </a:t>
            </a:r>
            <a:r>
              <a:rPr lang="en-US" sz="2000" dirty="0" err="1"/>
              <a:t>sedemikian</a:t>
            </a:r>
            <a:r>
              <a:rPr lang="en-US" sz="2000" dirty="0"/>
              <a:t> </a:t>
            </a:r>
            <a:r>
              <a:rPr lang="en-US" sz="2000" dirty="0" err="1"/>
              <a:t>rupa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berhenti</a:t>
            </a:r>
            <a:r>
              <a:rPr lang="en-US" sz="2000" dirty="0"/>
              <a:t>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pantulan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batas domain.</a:t>
            </a:r>
          </a:p>
        </p:txBody>
      </p:sp>
      <p:pic>
        <p:nvPicPr>
          <p:cNvPr id="4" name="simulasi_gelombang_beda_material">
            <a:hlinkClick r:id="" action="ppaction://media"/>
            <a:extLst>
              <a:ext uri="{FF2B5EF4-FFF2-40B4-BE49-F238E27FC236}">
                <a16:creationId xmlns:a16="http://schemas.microsoft.com/office/drawing/2014/main" id="{539B8830-6261-62D6-6E34-DD45880AC42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8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5600" y="2158049"/>
            <a:ext cx="5304260" cy="397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2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EC1C-4097-87D7-568C-CBD31660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0681-229C-1416-8F98-89A8990D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1 </a:t>
            </a:r>
            <a:r>
              <a:rPr lang="en-US" dirty="0" err="1"/>
              <a:t>Masalah</a:t>
            </a:r>
            <a:r>
              <a:rPr lang="en-US" dirty="0"/>
              <a:t> Batas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828B-6649-DEDE-89B6-EE055DDDC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292985"/>
            <a:ext cx="10363201" cy="398589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D" sz="2000" dirty="0" err="1"/>
              <a:t>Buatlah</a:t>
            </a:r>
            <a:r>
              <a:rPr lang="en-ID" sz="2000" dirty="0"/>
              <a:t> program-program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tugas</a:t>
            </a:r>
            <a:r>
              <a:rPr lang="en-ID" sz="2000" dirty="0"/>
              <a:t> </a:t>
            </a:r>
            <a:r>
              <a:rPr lang="en-ID" sz="2000" dirty="0" err="1"/>
              <a:t>sebelumnya</a:t>
            </a:r>
            <a:r>
              <a:rPr lang="en-ID" sz="2000" dirty="0"/>
              <a:t>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gelombang</a:t>
            </a:r>
            <a:r>
              <a:rPr lang="en-ID" sz="2000" dirty="0"/>
              <a:t> </a:t>
            </a:r>
            <a:r>
              <a:rPr lang="en-ID" sz="2000" dirty="0" err="1"/>
              <a:t>pantul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masuk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domain </a:t>
            </a:r>
            <a:r>
              <a:rPr lang="en-ID" sz="2000" dirty="0" err="1"/>
              <a:t>simulasi</a:t>
            </a:r>
            <a:r>
              <a:rPr lang="en-ID" sz="2000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9180C-D8D7-106A-2635-519E5E4F9268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2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D87A-FD90-70D1-D62B-29037483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be continued… </a:t>
            </a:r>
            <a:r>
              <a:rPr lang="en-US" dirty="0" err="1"/>
              <a:t>PML</a:t>
            </a:r>
            <a:r>
              <a:rPr lang="en-US" dirty="0"/>
              <a:t>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67D06-3B57-021F-4899-06D90490B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63828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UM 2025 v.1.0">
  <a:themeElements>
    <a:clrScheme name="Pedoman Warna UM">
      <a:dk1>
        <a:srgbClr val="000000"/>
      </a:dk1>
      <a:lt1>
        <a:srgbClr val="FFFFFF"/>
      </a:lt1>
      <a:dk2>
        <a:srgbClr val="022060"/>
      </a:dk2>
      <a:lt2>
        <a:srgbClr val="FFFFFF"/>
      </a:lt2>
      <a:accent1>
        <a:srgbClr val="022060"/>
      </a:accent1>
      <a:accent2>
        <a:srgbClr val="46589B"/>
      </a:accent2>
      <a:accent3>
        <a:srgbClr val="AAD037"/>
      </a:accent3>
      <a:accent4>
        <a:srgbClr val="FBED27"/>
      </a:accent4>
      <a:accent5>
        <a:srgbClr val="1B86C5"/>
      </a:accent5>
      <a:accent6>
        <a:srgbClr val="4BA3C8"/>
      </a:accent6>
      <a:hlink>
        <a:srgbClr val="1B86C5"/>
      </a:hlink>
      <a:folHlink>
        <a:srgbClr val="1B86C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UM 2025 v.1.0" id="{772F35EB-5A7E-4E4B-A119-A5FEF8273392}" vid="{E654A2FE-0AB2-4C21-80B3-FABBC7DB85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UM 2025 v.1.0</Template>
  <TotalTime>5493</TotalTime>
  <Words>295</Words>
  <Application>Microsoft Office PowerPoint</Application>
  <PresentationFormat>Widescreen</PresentationFormat>
  <Paragraphs>38</Paragraphs>
  <Slides>11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Montserrat</vt:lpstr>
      <vt:lpstr>PowerPoint UM 2025 v.1.0</vt:lpstr>
      <vt:lpstr>Perfectly Matches Layer</vt:lpstr>
      <vt:lpstr>Masalah Batas</vt:lpstr>
      <vt:lpstr>Masalah Batas</vt:lpstr>
      <vt:lpstr>Masalah Batas</vt:lpstr>
      <vt:lpstr>Masalah Batas</vt:lpstr>
      <vt:lpstr>Masalah Batas</vt:lpstr>
      <vt:lpstr>Contoh simulasi</vt:lpstr>
      <vt:lpstr>Contoh simulasi celah</vt:lpstr>
      <vt:lpstr>Contoh simulasi beda material</vt:lpstr>
      <vt:lpstr>Tugas 1 Masalah Batas</vt:lpstr>
      <vt:lpstr>To be continued… PML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yoyok.adisetio</dc:creator>
  <cp:lastModifiedBy>yoyok.adisetio</cp:lastModifiedBy>
  <cp:revision>147</cp:revision>
  <cp:lastPrinted>2025-11-05T05:02:10Z</cp:lastPrinted>
  <dcterms:created xsi:type="dcterms:W3CDTF">2025-10-02T02:43:41Z</dcterms:created>
  <dcterms:modified xsi:type="dcterms:W3CDTF">2025-11-19T05:49:55Z</dcterms:modified>
</cp:coreProperties>
</file>